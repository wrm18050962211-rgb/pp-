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47abc2451b4350" /><Relationship Type="http://schemas.openxmlformats.org/officeDocument/2006/relationships/extended-properties" Target="/docProps/app.xml" Id="R98dc902bb52046f6" /><Relationship Type="http://schemas.openxmlformats.org/officeDocument/2006/relationships/officeDocument" Target="/ppt/presentation.xml" Id="R0f9510b77acf47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a6406c5e674bac"/>
  </p:sldMasterIdLst>
  <p:notesMasterIdLst>
    <p:notesMasterId xmlns:r="http://schemas.openxmlformats.org/officeDocument/2006/relationships" r:id="R7d60a9bd13bf4cd2"/>
  </p:notesMasterIdLst>
  <p:sldIdLst>
    <p:sldId xmlns:r="http://schemas.openxmlformats.org/officeDocument/2006/relationships" id="256" r:id="Rdd79190652f44e2e"/>
    <p:sldId xmlns:r="http://schemas.openxmlformats.org/officeDocument/2006/relationships" id="257" r:id="Ra85667f106d64b8e"/>
    <p:sldId xmlns:r="http://schemas.openxmlformats.org/officeDocument/2006/relationships" id="258" r:id="R03711cf1415c44d5"/>
    <p:sldId xmlns:r="http://schemas.openxmlformats.org/officeDocument/2006/relationships" id="259" r:id="R35cb1b09a21c431d"/>
    <p:sldId xmlns:r="http://schemas.openxmlformats.org/officeDocument/2006/relationships" id="260" r:id="R2aa9251ad59b430d"/>
    <p:sldId xmlns:r="http://schemas.openxmlformats.org/officeDocument/2006/relationships" id="261" r:id="R33a9b52d8a8f462a"/>
    <p:sldId xmlns:r="http://schemas.openxmlformats.org/officeDocument/2006/relationships" id="262" r:id="R091e339e6f174413"/>
    <p:sldId xmlns:r="http://schemas.openxmlformats.org/officeDocument/2006/relationships" id="263" r:id="R87df2084773c48b8"/>
    <p:sldId xmlns:r="http://schemas.openxmlformats.org/officeDocument/2006/relationships" id="264" r:id="Rb5dd95cab06c4cd2"/>
    <p:sldId xmlns:r="http://schemas.openxmlformats.org/officeDocument/2006/relationships" id="265" r:id="R17fc56e3574f49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ba586592434a2c" /><Relationship Type="http://schemas.openxmlformats.org/officeDocument/2006/relationships/slideMaster" Target="/ppt/slideMasters/slideMaster1.xml" Id="R76a6406c5e674bac" /><Relationship Type="http://schemas.openxmlformats.org/officeDocument/2006/relationships/notesMaster" Target="/ppt/notesMasters/notesMaster1.xml" Id="R7d60a9bd13bf4cd2" /><Relationship Type="http://schemas.openxmlformats.org/officeDocument/2006/relationships/presProps" Target="/ppt/presProps.xml" Id="R8d2002d0731c465b" /><Relationship Type="http://schemas.openxmlformats.org/officeDocument/2006/relationships/tableStyles" Target="/ppt/tableStyles.xml" Id="R1d42c83b75634509" /><Relationship Type="http://schemas.openxmlformats.org/officeDocument/2006/relationships/slide" Target="/ppt/slides/slide1.xml" Id="Rdd79190652f44e2e" /><Relationship Type="http://schemas.openxmlformats.org/officeDocument/2006/relationships/slide" Target="/ppt/slides/slide2.xml" Id="Ra85667f106d64b8e" /><Relationship Type="http://schemas.openxmlformats.org/officeDocument/2006/relationships/slide" Target="/ppt/slides/slide3.xml" Id="R03711cf1415c44d5" /><Relationship Type="http://schemas.openxmlformats.org/officeDocument/2006/relationships/slide" Target="/ppt/slides/slide4.xml" Id="R35cb1b09a21c431d" /><Relationship Type="http://schemas.openxmlformats.org/officeDocument/2006/relationships/slide" Target="/ppt/slides/slide5.xml" Id="R2aa9251ad59b430d" /><Relationship Type="http://schemas.openxmlformats.org/officeDocument/2006/relationships/slide" Target="/ppt/slides/slide6.xml" Id="R33a9b52d8a8f462a" /><Relationship Type="http://schemas.openxmlformats.org/officeDocument/2006/relationships/slide" Target="/ppt/slides/slide7.xml" Id="R091e339e6f174413" /><Relationship Type="http://schemas.openxmlformats.org/officeDocument/2006/relationships/slide" Target="/ppt/slides/slide8.xml" Id="R87df2084773c48b8" /><Relationship Type="http://schemas.openxmlformats.org/officeDocument/2006/relationships/slide" Target="/ppt/slides/slide9.xml" Id="Rb5dd95cab06c4cd2" /><Relationship Type="http://schemas.openxmlformats.org/officeDocument/2006/relationships/slide" Target="/ppt/slides/slide10.xml" Id="R17fc56e3574f49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c71f8d2db94f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f2ccbb72684f3f" /><Relationship Type="http://schemas.openxmlformats.org/officeDocument/2006/relationships/notesMaster" Target="/ppt/notesMasters/notesMaster1.xml" Id="R45ba39bceaf242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0bfe86ffbd41df" /><Relationship Type="http://schemas.openxmlformats.org/officeDocument/2006/relationships/notesMaster" Target="/ppt/notesMasters/notesMaster1.xml" Id="Raf78fc889f9444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7abfede41e409f" /><Relationship Type="http://schemas.openxmlformats.org/officeDocument/2006/relationships/notesMaster" Target="/ppt/notesMasters/notesMaster1.xml" Id="R3e9b817aa28949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cdb92349544935" /><Relationship Type="http://schemas.openxmlformats.org/officeDocument/2006/relationships/notesMaster" Target="/ppt/notesMasters/notesMaster1.xml" Id="R531fab15d94c48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21c4cdde704152" /><Relationship Type="http://schemas.openxmlformats.org/officeDocument/2006/relationships/notesMaster" Target="/ppt/notesMasters/notesMaster1.xml" Id="R65462c0966464d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1c35efe1a34798" /><Relationship Type="http://schemas.openxmlformats.org/officeDocument/2006/relationships/notesMaster" Target="/ppt/notesMasters/notesMaster1.xml" Id="R3f01571acdef47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a3dd1ab12943d4" /><Relationship Type="http://schemas.openxmlformats.org/officeDocument/2006/relationships/notesMaster" Target="/ppt/notesMasters/notesMaster1.xml" Id="R4c4fb494b80e4f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a4df3fdb0840e0" /><Relationship Type="http://schemas.openxmlformats.org/officeDocument/2006/relationships/notesMaster" Target="/ppt/notesMasters/notesMaster1.xml" Id="R79937ad2ff3542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615dbe6b8d4a3a" /><Relationship Type="http://schemas.openxmlformats.org/officeDocument/2006/relationships/notesMaster" Target="/ppt/notesMasters/notesMaster1.xml" Id="Rebe5e40baa1f49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fcc09c47b44e39" /><Relationship Type="http://schemas.openxmlformats.org/officeDocument/2006/relationships/notesMaster" Target="/ppt/notesMasters/notesMaster1.xml" Id="Rfcdea6b1e2e54e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主讲词（约30秒）</a:t>
            </a:r>
          </a:p>
          <a:p xmlns:a="http://schemas.openxmlformats.org/drawingml/2006/main">
            <a:r>
              <a:t>今天只讨论一个很具体的合作：用户已经选好摄影师后，如果还需要妆造或服装，能否把这部分明确需求带给门店。我们不要求您拆掉原有摄影套餐，也不要求安装新系统；先用少量套餐跑一个受控试点。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提示：这是受控试点沟通稿。不要把计划中的流程表述成已经上线的功能，也不要承诺订单量。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docs/STILL_MERCHANT_COLD_START_PARTNERSHIP_PLAN.md §1、§8</a:t>
            </a:r>
          </a:p>
          <a:p xmlns:a="http://schemas.openxmlformats.org/drawingml/2006/main">
            <a:r>
              <a:t>- website/assets/hero-still.jpg（项目本地图片）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主讲词（约30秒）</a:t>
            </a:r>
          </a:p>
          <a:p xmlns:a="http://schemas.openxmlformats.org/drawingml/2006/main">
            <a:r>
              <a:t>我们不会再做一个“找妆造店”的黄页入口。用户仍然从作品和摄影师开始，因为审美选择才是主线；门店承担可选的妆造与服装服务。右侧是现有用户端页面，只用于说明基础入口，组合交易目前还在方案和技术验收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提示：这是受控试点沟通稿。不要把计划中的流程表述成已经上线的功能，也不要承诺订单量。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docs/STILL_MERCHANT_COLD_START_PARTNERSHIP_PLAN.md §1、§2</a:t>
            </a:r>
          </a:p>
          <a:p xmlns:a="http://schemas.openxmlformats.org/drawingml/2006/main">
            <a:r>
              <a:t>- pp-app/qa-mobile-home.png（项目当前界面截图）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主讲词（约30秒）</a:t>
            </a:r>
          </a:p>
          <a:p xmlns:a="http://schemas.openxmlformats.org/drawingml/2006/main">
            <a:r>
              <a:t>这套模式故意做得很窄：摄影师负责摄影，门店只把自己擅长的妆造或服装变成固定价模块。用户自由选择是否添加；对外仍是一笔清楚的订单，对内再把责任、退款与结算拆到服务项。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提示：这是受控试点沟通稿。不要把计划中的流程表述成已经上线的功能，也不要承诺订单量。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docs/STILL_MERCHANT_COLD_START_PARTNERSHIP_PLAN.md §2、§3、§8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主讲词（约30秒）</a:t>
            </a:r>
          </a:p>
          <a:p xmlns:a="http://schemas.openxmlformats.org/drawingml/2006/main">
            <a:r>
              <a:t>用户付款后，摄影师和商家并行接单。只有两边都接受，组合订单才正式成立，订单页才显示门店公开营业电话。这个电话只用于临近核对，不是让用户再次向门店预约；不打电话也不影响预约。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提示：这是受控试点沟通稿。不要把计划中的流程表述成已经上线的功能，也不要承诺订单量。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docs/STILL_MERCHANT_COLD_START_PARTNERSHIP_PLAN.md §2.2、§4.2、§4.3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主讲词（约30秒）</a:t>
            </a:r>
          </a:p>
          <a:p xmlns:a="http://schemas.openxmlformats.org/drawingml/2006/main">
            <a:r>
              <a:t>门店不需要学习复杂系统。首期只处理套餐、接单、履约和异常四件事；仍可继续使用美团、抖音和线下流程。我们不做全渠道库存同步，也不要求您为 Still 预留工位或化妆师。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提示：这是受控试点沟通稿。不要把计划中的流程表述成已经上线的功能，也不要承诺订单量。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docs/STILL_MERCHANT_COLD_START_PARTNERSHIP_PLAN.md §7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主讲词（约30秒）</a:t>
            </a:r>
          </a:p>
          <a:p xmlns:a="http://schemas.openxmlformats.org/drawingml/2006/main">
            <a:r>
              <a:t>商务数字先固定得可计算：没有入驻费、软件费和年费；摄影与商家服务项分别按自己的计佣基数收取 8%。计价金额等于锁定原价减去服务方承担优惠；平台优惠不降低计价金额。正常 100 元应结 92 元，使用 10 元平台券仍应结 92 元；确认用户责任取消时，20 元档期补偿全额归服务方且不收佣。试点从第一笔真实组合订单起，30 个自然日或完成 10 笔组合订单先到为准。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提示：这是受控试点沟通稿。不要把计划中的流程表述成已经上线的功能，也不要承诺订单量。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docs/STILL_MERCHANT_COLD_START_PARTNERSHIP_PLAN.md §6.1、§8、§9</a:t>
            </a:r>
          </a:p>
          <a:p xmlns:a="http://schemas.openxmlformats.org/drawingml/2006/main">
            <a:r>
              <a:t>- docs/DUAL_PLATFORM_RELEASE_ROADMAP.md EXT-MERCHANT-1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主讲词（约30秒）</a:t>
            </a:r>
          </a:p>
          <a:p xmlns:a="http://schemas.openxmlformats.org/drawingml/2006/main">
            <a:r>
              <a:t>门店不会被要求提前开放实时库存。用户先提交明确时间与需求，您在营业时间内有两个有效小时判断是否承接；临近订单只有主动开启紧急接单才会收到，确认时限是 30 分钟。拒绝不会强行成交，用户可以保留摄影或取消整单；普通订单须在 2 个有效小时内选择，紧急订单须在 30 分钟内选择，逾期默认整单取消并全额退款。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提示：这是受控试点沟通稿。不要把计划中的流程表述成已经上线的功能，也不要承诺订单量。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docs/STILL_MERCHANT_COLD_START_PARTNERSHIP_PLAN.md §4.2、§4.3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主讲词（约30秒）</a:t>
            </a:r>
          </a:p>
          <a:p xmlns:a="http://schemas.openxmlformats.org/drawingml/2006/main">
            <a:r>
              <a:t>异常处理不按迟到分钟自动扣费，只有一方主动发起并完成归责才执行。距离最早服务超过 24 小时用户取消全退；不足 24 小时且确认是用户责任，才对受影响项退还 80%服务价值，并把 20%作为不计佣档期补偿全额给服务方。服务方标记完成后，用户主动确认即可进入可结算；用户未操作时，计划结束 72 小时且无异常才自动进入。真实资金方案仍要通过支付、合规和财务验收。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提示：这是受控试点沟通稿。不要把计划中的流程表述成已经上线的功能，也不要承诺订单量。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docs/STILL_MERCHANT_COLD_START_PARTNERSHIP_PLAN.md §5、§6.2</a:t>
            </a:r>
          </a:p>
          <a:p xmlns:a="http://schemas.openxmlformats.org/drawingml/2006/main">
            <a:r>
              <a:t>- docs/DUAL_PLATFORM_RELEASE_ROADMAP.md EXT-PAY-1、EXT-COMPLIANCE-1、EXT-OPS-1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主讲词（约30秒）</a:t>
            </a:r>
          </a:p>
          <a:p xmlns:a="http://schemas.openxmlformats.org/drawingml/2006/main">
            <a:r>
              <a:t>入驻不会一上来就放量。先核资料，再把一到三个套餐说清楚，确认真实合作摄影师，最后跑一笔不收真实钱的模拟订单。模拟通过只是必要条件；只有支付、部分退款、分项结算、权限、电话脱敏、合规、财务与跨角色检查全部通过，才开放少量真实受控订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提示：这是受控试点沟通稿。不要把计划中的流程表述成已经上线的功能，也不要承诺订单量。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docs/STILL_MERCHANT_COLD_START_PARTNERSHIP_PLAN.md §8、§9、§12</a:t>
            </a:r>
          </a:p>
          <a:p xmlns:a="http://schemas.openxmlformats.org/drawingml/2006/main">
            <a:r>
              <a:t>- docs/DUAL_PLATFORM_RELEASE_ROADMAP.md EXT-MERCHANT-PILOT-1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主讲词（约30秒）</a:t>
            </a:r>
          </a:p>
          <a:p xmlns:a="http://schemas.openxmlformats.org/drawingml/2006/main">
            <a:r>
              <a:t>如果这个方向对您有价值，下一步只需要准备一到三个套餐、营业信息和真实合作摄影师，我们一起跑一笔模拟订单。请注意，真实支付不会因为今天达成意向就自动开放；支付、合规、财务和系统验收全部通过后才进入受控真实试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提示：这是受控试点沟通稿。不要把计划中的流程表述成已经上线的功能，也不要承诺订单量。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docs/STILL_MERCHANT_COLD_START_PARTNERSHIP_PLAN.md §12</a:t>
            </a:r>
          </a:p>
          <a:p xmlns:a="http://schemas.openxmlformats.org/drawingml/2006/main">
            <a:r>
              <a:t>- docs/DUAL_PLATFORM_RELEASE_ROADMAP.md INT-COMBO-1、EXT-PAY-1、EXT-COMPLIANCE-1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fcb4f4522445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3d88d42e3c4e85" /><Relationship Type="http://schemas.openxmlformats.org/officeDocument/2006/relationships/slideLayout" Target="/ppt/slideLayouts/slideLayout1.xml" Id="Rb9c9cf27d84e4b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c9cf27d84e4b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8a1564819456f" /><Relationship Type="http://schemas.openxmlformats.org/officeDocument/2006/relationships/image" Target="/ppt/media/image.jpeg" Id="R7d6e47c79e914930" /><Relationship Type="http://schemas.openxmlformats.org/officeDocument/2006/relationships/notesSlide" Target="/ppt/notesSlides/notesSlide1.xml" Id="Radd2f356277844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2e69523424a37" /><Relationship Type="http://schemas.openxmlformats.org/officeDocument/2006/relationships/image" Target="/ppt/media/image2.jpeg" Id="Rcdbe03394e274fd3" /><Relationship Type="http://schemas.openxmlformats.org/officeDocument/2006/relationships/notesSlide" Target="/ppt/notesSlides/notesSlide2.xml" Id="Re583cc39b54648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a994dac2645e9" /><Relationship Type="http://schemas.openxmlformats.org/officeDocument/2006/relationships/notesSlide" Target="/ppt/notesSlides/notesSlide3.xml" Id="R6ceb5ed3afe042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5de0d38ef49c6" /><Relationship Type="http://schemas.openxmlformats.org/officeDocument/2006/relationships/notesSlide" Target="/ppt/notesSlides/notesSlide4.xml" Id="R2c54dadda8d14e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f019a9aac4d5d" /><Relationship Type="http://schemas.openxmlformats.org/officeDocument/2006/relationships/notesSlide" Target="/ppt/notesSlides/notesSlide5.xml" Id="R30a81c5f868d40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23d93df6b4d23" /><Relationship Type="http://schemas.openxmlformats.org/officeDocument/2006/relationships/notesSlide" Target="/ppt/notesSlides/notesSlide6.xml" Id="R97519481d86948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85c37bcf74f85" /><Relationship Type="http://schemas.openxmlformats.org/officeDocument/2006/relationships/notesSlide" Target="/ppt/notesSlides/notesSlide7.xml" Id="R855ca13da86140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ec73d050340d2" /><Relationship Type="http://schemas.openxmlformats.org/officeDocument/2006/relationships/notesSlide" Target="/ppt/notesSlides/notesSlide8.xml" Id="Rf0cfb12807204e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c10552e6e44d7" /><Relationship Type="http://schemas.openxmlformats.org/officeDocument/2006/relationships/notesSlide" Target="/ppt/notesSlides/notesSlide9.xml" Id="R06ed557d93b84f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c06ecc6444f40" /><Relationship Type="http://schemas.openxmlformats.org/officeDocument/2006/relationships/notesSlide" Target="/ppt/notesSlides/notesSlide10.xml" Id="Re15c26ee6ead48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e47c79e914930"/>
          <a:srcRect xmlns:a="http://schemas.openxmlformats.org/drawingml/2006/main" l="0" t="9833" r="0" b="9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0"/>
            <a:ext cx="56959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4B29FDA6-6A2B-427B-8606-AD5E0A99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96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FCD8A4-C757-465F-9693-99C4E197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Still × 本地妆造 / 服装商家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94C99AC-35E8-4E0B-9184-21D1F167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5334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把妆造与服装</a:t>
            </a:r>
          </a:p>
          <a:p xmlns:a="http://schemas.openxmlformats.org/drawingml/2006/main">
            <a:pPr algn="l">
              <a:defRPr sz="43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变成一条增量订单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8C62F8A-36C9-4DE0-8679-B3D6CC63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不拆现有套餐 · 不装新系统</a:t>
            </a:r>
          </a:p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逐单决定是否承接</a:t>
            </a:r>
          </a:p>
        </p:txBody>
      </p:sp>
      <p:sp>
        <p:nvSpPr>
          <p:cNvPr id="6" name="rect-4">
            <a:extLst xmlns:a="http://schemas.openxmlformats.org/drawingml/2006/main">
              <a:ext uri="{FF2B5EF4-FFF2-40B4-BE49-F238E27FC236}">
                <a16:creationId xmlns:a16="http://schemas.microsoft.com/office/drawing/2014/main" id="{936C5A7B-C371-4166-BAE5-9EFA763C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4457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89EC84A-DC78-4B50-8C74-C688622F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受控试点沟通稿｜非上线与订单量承诺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6D7A5DF-8594-4E76-A02C-021F2832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17521280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2-kicker">
            <a:extLst xmlns:a="http://schemas.openxmlformats.org/drawingml/2006/main">
              <a:ext uri="{FF2B5EF4-FFF2-40B4-BE49-F238E27FC236}">
                <a16:creationId xmlns:a16="http://schemas.microsoft.com/office/drawing/2014/main" id="{4387B56B-2EA1-4FF0-8E37-A0CB69B5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为什么要做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86E7AD2-7805-4A39-A557-3A3721D5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我们解决的不是“多一个店铺入口”，而是一次拍摄怎么配齐</a:t>
            </a:r>
          </a:p>
        </p:txBody>
      </p:sp>
      <p:sp>
        <p:nvSpPr>
          <p:cNvPr id="3" name="line-7">
            <a:extLst xmlns:a="http://schemas.openxmlformats.org/drawingml/2006/main">
              <a:ext uri="{FF2B5EF4-FFF2-40B4-BE49-F238E27FC236}">
                <a16:creationId xmlns:a16="http://schemas.microsoft.com/office/drawing/2014/main" id="{9680757F-B6E9-46EE-8797-76D152F9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4" name="text-8">
            <a:extLst xmlns:a="http://schemas.openxmlformats.org/drawingml/2006/main">
              <a:ext uri="{FF2B5EF4-FFF2-40B4-BE49-F238E27FC236}">
                <a16:creationId xmlns:a16="http://schemas.microsoft.com/office/drawing/2014/main" id="{791C81ED-F6BC-43A1-AF78-836AB619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286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用户先选审美与摄影师，</a:t>
            </a:r>
          </a:p>
          <a:p xmlns:a="http://schemas.openxmlformats.org/drawingml/2006/main">
            <a:pPr algn="l">
              <a:defRPr sz="30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再补齐当天的妆造、服装。</a:t>
            </a:r>
          </a:p>
        </p:txBody>
      </p:sp>
      <p:sp>
        <p:nvSpPr>
          <p:cNvPr id="5" name="text-9">
            <a:extLst xmlns:a="http://schemas.openxmlformats.org/drawingml/2006/main">
              <a:ext uri="{FF2B5EF4-FFF2-40B4-BE49-F238E27FC236}">
                <a16:creationId xmlns:a16="http://schemas.microsoft.com/office/drawing/2014/main" id="{E16D5E08-075F-40E0-B082-8B55445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对用户</a:t>
            </a:r>
          </a:p>
        </p:txBody>
      </p:sp>
      <p:sp>
        <p:nvSpPr>
          <p:cNvPr id="6" name="text-10">
            <a:extLst xmlns:a="http://schemas.openxmlformats.org/drawingml/2006/main">
              <a:ext uri="{FF2B5EF4-FFF2-40B4-BE49-F238E27FC236}">
                <a16:creationId xmlns:a16="http://schemas.microsoft.com/office/drawing/2014/main" id="{4D4F8423-E77B-4CD1-8B73-5C4A786D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希望自由组合，而不是被固定流水线锁住。</a:t>
            </a:r>
          </a:p>
        </p:txBody>
      </p:sp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78002E27-0FD7-41E3-9981-B7C23C5E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对门店</a:t>
            </a:r>
          </a:p>
        </p:txBody>
      </p:sp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DE92F0B9-4A79-4C33-B7AF-2FFDC0E3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希望增加收入，但不改掉现有渠道和店内套餐。</a:t>
            </a:r>
          </a:p>
        </p:txBody>
      </p:sp>
      <p:sp>
        <p:nvSpPr>
          <p:cNvPr id="9" name="rect-13">
            <a:extLst xmlns:a="http://schemas.openxmlformats.org/drawingml/2006/main">
              <a:ext uri="{FF2B5EF4-FFF2-40B4-BE49-F238E27FC236}">
                <a16:creationId xmlns:a16="http://schemas.microsoft.com/office/drawing/2014/main" id="{9156839B-BD07-4269-91B6-706EFC4B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76400"/>
            <a:ext cx="2362200" cy="43243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e03394e274fd3"/>
          <a:stretch xmlns:a="http://schemas.openxmlformats.org/drawingml/2006/main"/>
        </p:blipFill>
        <p:spPr>
          <a:xfrm xmlns:a="http://schemas.openxmlformats.org/drawingml/2006/main">
            <a:off x="9004567" y="1809750"/>
            <a:ext cx="1802866" cy="4057650"/>
          </a:xfrm>
          <a:prstGeom xmlns:a="http://schemas.openxmlformats.org/drawingml/2006/main" prst="roundRect">
            <a:avLst>
              <a:gd name="adj" fmla="val 8654"/>
            </a:avLst>
          </a:prstGeom>
        </p:spPr>
      </p:pic>
      <p:sp>
        <p:nvSpPr>
          <p:cNvPr id="11" name="text-14">
            <a:extLst xmlns:a="http://schemas.openxmlformats.org/drawingml/2006/main">
              <a:ext uri="{FF2B5EF4-FFF2-40B4-BE49-F238E27FC236}">
                <a16:creationId xmlns:a16="http://schemas.microsoft.com/office/drawing/2014/main" id="{628BB01E-BEF6-44C0-BE5C-7E304722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387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现有用户入口基础</a:t>
            </a:r>
          </a:p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组合交易尚未上线</a:t>
            </a:r>
          </a:p>
        </p:txBody>
      </p:sp>
      <p:sp>
        <p:nvSpPr>
          <p:cNvPr id="12" name="slide-2-footer-label">
            <a:extLst xmlns:a="http://schemas.openxmlformats.org/drawingml/2006/main">
              <a:ext uri="{FF2B5EF4-FFF2-40B4-BE49-F238E27FC236}">
                <a16:creationId xmlns:a16="http://schemas.microsoft.com/office/drawing/2014/main" id="{98B33998-7026-457E-89F6-CC3217B5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Still 商家受控试点</a:t>
            </a:r>
          </a:p>
        </p:txBody>
      </p:sp>
      <p:sp>
        <p:nvSpPr>
          <p:cNvPr id="13" name="slide-2-footer-number">
            <a:extLst xmlns:a="http://schemas.openxmlformats.org/drawingml/2006/main">
              <a:ext uri="{FF2B5EF4-FFF2-40B4-BE49-F238E27FC236}">
                <a16:creationId xmlns:a16="http://schemas.microsoft.com/office/drawing/2014/main" id="{2D70E648-618D-4402-96DB-07EF3421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4865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3-kicker">
            <a:extLst xmlns:a="http://schemas.openxmlformats.org/drawingml/2006/main">
              <a:ext uri="{FF2B5EF4-FFF2-40B4-BE49-F238E27FC236}">
                <a16:creationId xmlns:a16="http://schemas.microsoft.com/office/drawing/2014/main" id="{4CBCCA60-F695-48E2-A04C-1F3E5F37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合作模型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ABDD3AFF-0174-4169-A75E-B9891889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合作方式很窄：您只提供可选的妆造 / 服装模块</a:t>
            </a:r>
          </a:p>
        </p:txBody>
      </p:sp>
      <p:sp>
        <p:nvSpPr>
          <p:cNvPr id="3" name="line-15">
            <a:extLst xmlns:a="http://schemas.openxmlformats.org/drawingml/2006/main">
              <a:ext uri="{FF2B5EF4-FFF2-40B4-BE49-F238E27FC236}">
                <a16:creationId xmlns:a16="http://schemas.microsoft.com/office/drawing/2014/main" id="{554F0896-580B-444E-A8A8-C33365AE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4" name="line-16">
            <a:extLst xmlns:a="http://schemas.openxmlformats.org/drawingml/2006/main">
              <a:ext uri="{FF2B5EF4-FFF2-40B4-BE49-F238E27FC236}">
                <a16:creationId xmlns:a16="http://schemas.microsoft.com/office/drawing/2014/main" id="{B945E772-3B2B-4A70-BD57-3A43435B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8595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5" name="line-17">
            <a:extLst xmlns:a="http://schemas.openxmlformats.org/drawingml/2006/main">
              <a:ext uri="{FF2B5EF4-FFF2-40B4-BE49-F238E27FC236}">
                <a16:creationId xmlns:a16="http://schemas.microsoft.com/office/drawing/2014/main" id="{0729E3B4-08B8-4551-BC9C-F002B34D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6" name="text-18">
            <a:extLst xmlns:a="http://schemas.openxmlformats.org/drawingml/2006/main">
              <a:ext uri="{FF2B5EF4-FFF2-40B4-BE49-F238E27FC236}">
                <a16:creationId xmlns:a16="http://schemas.microsoft.com/office/drawing/2014/main" id="{8481A6DB-0A7E-42E2-947B-9FCCD981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摄影师</a:t>
            </a:r>
          </a:p>
        </p:txBody>
      </p:sp>
      <p:sp>
        <p:nvSpPr>
          <p:cNvPr id="7" name="text-19">
            <a:extLst xmlns:a="http://schemas.openxmlformats.org/drawingml/2006/main">
              <a:ext uri="{FF2B5EF4-FFF2-40B4-BE49-F238E27FC236}">
                <a16:creationId xmlns:a16="http://schemas.microsoft.com/office/drawing/2014/main" id="{FD79A391-72FD-49BA-8C64-A5AC07EF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确定拍摄</a:t>
            </a:r>
          </a:p>
        </p:txBody>
      </p:sp>
      <p:sp>
        <p:nvSpPr>
          <p:cNvPr id="8" name="text-20">
            <a:extLst xmlns:a="http://schemas.openxmlformats.org/drawingml/2006/main">
              <a:ext uri="{FF2B5EF4-FFF2-40B4-BE49-F238E27FC236}">
                <a16:creationId xmlns:a16="http://schemas.microsoft.com/office/drawing/2014/main" id="{A04BACB0-FDAF-4F36-A9A7-BE1B6166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摄影时长、需求与价格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由摄影师预先设置并接单</a:t>
            </a:r>
          </a:p>
        </p:txBody>
      </p:sp>
      <p:sp>
        <p:nvSpPr>
          <p:cNvPr id="9" name="text-21">
            <a:extLst xmlns:a="http://schemas.openxmlformats.org/drawingml/2006/main">
              <a:ext uri="{FF2B5EF4-FFF2-40B4-BE49-F238E27FC236}">
                <a16:creationId xmlns:a16="http://schemas.microsoft.com/office/drawing/2014/main" id="{3F565CCE-599C-4064-8921-4A912EF8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10" name="text-22">
            <a:extLst xmlns:a="http://schemas.openxmlformats.org/drawingml/2006/main">
              <a:ext uri="{FF2B5EF4-FFF2-40B4-BE49-F238E27FC236}">
                <a16:creationId xmlns:a16="http://schemas.microsoft.com/office/drawing/2014/main" id="{B03A6617-23CE-4C1C-9419-5E598947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自由组合</a:t>
            </a:r>
          </a:p>
        </p:txBody>
      </p:sp>
      <p:sp>
        <p:nvSpPr>
          <p:cNvPr id="11" name="text-23">
            <a:extLst xmlns:a="http://schemas.openxmlformats.org/drawingml/2006/main">
              <a:ext uri="{FF2B5EF4-FFF2-40B4-BE49-F238E27FC236}">
                <a16:creationId xmlns:a16="http://schemas.microsoft.com/office/drawing/2014/main" id="{1B35E786-8AD5-4A60-86A5-D93BC480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仅摄影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摄影＋妆造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摄影＋妆造＋服装</a:t>
            </a:r>
          </a:p>
        </p:txBody>
      </p:sp>
      <p:sp>
        <p:nvSpPr>
          <p:cNvPr id="12" name="text-24">
            <a:extLst xmlns:a="http://schemas.openxmlformats.org/drawingml/2006/main">
              <a:ext uri="{FF2B5EF4-FFF2-40B4-BE49-F238E27FC236}">
                <a16:creationId xmlns:a16="http://schemas.microsoft.com/office/drawing/2014/main" id="{4326D440-95D8-4637-9215-D0228976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商家</a:t>
            </a:r>
          </a:p>
        </p:txBody>
      </p:sp>
      <p:sp>
        <p:nvSpPr>
          <p:cNvPr id="13" name="text-25">
            <a:extLst xmlns:a="http://schemas.openxmlformats.org/drawingml/2006/main">
              <a:ext uri="{FF2B5EF4-FFF2-40B4-BE49-F238E27FC236}">
                <a16:creationId xmlns:a16="http://schemas.microsoft.com/office/drawing/2014/main" id="{D8DBC51A-B8EF-4637-ABF8-07956EE5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提供模块</a:t>
            </a:r>
          </a:p>
        </p:txBody>
      </p:sp>
      <p:sp>
        <p:nvSpPr>
          <p:cNvPr id="14" name="text-26">
            <a:extLst xmlns:a="http://schemas.openxmlformats.org/drawingml/2006/main">
              <a:ext uri="{FF2B5EF4-FFF2-40B4-BE49-F238E27FC236}">
                <a16:creationId xmlns:a16="http://schemas.microsoft.com/office/drawing/2014/main" id="{67642AEA-709E-41D3-8B02-104697C9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上架 1—3 个固定价套餐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逐笔接受或拒绝明确请求</a:t>
            </a:r>
          </a:p>
        </p:txBody>
      </p:sp>
      <p:sp>
        <p:nvSpPr>
          <p:cNvPr id="15" name="rect-27">
            <a:extLst xmlns:a="http://schemas.openxmlformats.org/drawingml/2006/main">
              <a:ext uri="{FF2B5EF4-FFF2-40B4-BE49-F238E27FC236}">
                <a16:creationId xmlns:a16="http://schemas.microsoft.com/office/drawing/2014/main" id="{A32965E3-785E-4633-A298-02CC4BC9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111633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8">
            <a:extLst xmlns:a="http://schemas.openxmlformats.org/drawingml/2006/main">
              <a:ext uri="{FF2B5EF4-FFF2-40B4-BE49-F238E27FC236}">
                <a16:creationId xmlns:a16="http://schemas.microsoft.com/office/drawing/2014/main" id="{B9F1638D-6515-4242-8174-0BC5B965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用户看到一个订单与一次支付；后台按摄影、妆造、服装服务项分别留痕与结算。</a:t>
            </a:r>
          </a:p>
        </p:txBody>
      </p:sp>
      <p:sp>
        <p:nvSpPr>
          <p:cNvPr id="17" name="slide-3-footer-label">
            <a:extLst xmlns:a="http://schemas.openxmlformats.org/drawingml/2006/main">
              <a:ext uri="{FF2B5EF4-FFF2-40B4-BE49-F238E27FC236}">
                <a16:creationId xmlns:a16="http://schemas.microsoft.com/office/drawing/2014/main" id="{F181635F-4A52-4418-860E-6A1897F6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Still 商家受控试点</a:t>
            </a:r>
          </a:p>
        </p:txBody>
      </p:sp>
      <p:sp>
        <p:nvSpPr>
          <p:cNvPr id="18" name="slide-3-footer-number">
            <a:extLst xmlns:a="http://schemas.openxmlformats.org/drawingml/2006/main">
              <a:ext uri="{FF2B5EF4-FFF2-40B4-BE49-F238E27FC236}">
                <a16:creationId xmlns:a16="http://schemas.microsoft.com/office/drawing/2014/main" id="{C288061B-E73F-4173-9CAA-2483C79F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9252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4-kicker">
            <a:extLst xmlns:a="http://schemas.openxmlformats.org/drawingml/2006/main">
              <a:ext uri="{FF2B5EF4-FFF2-40B4-BE49-F238E27FC236}">
                <a16:creationId xmlns:a16="http://schemas.microsoft.com/office/drawing/2014/main" id="{C320559F-1166-4230-AA15-701CFD09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用户流程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63AE5D0-AF2B-4729-BA98-C820D6C3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用户只走一条线，电话只在双方确认后出现</a:t>
            </a:r>
          </a:p>
        </p:txBody>
      </p:sp>
      <p:sp>
        <p:nvSpPr>
          <p:cNvPr id="3" name="line-29">
            <a:extLst xmlns:a="http://schemas.openxmlformats.org/drawingml/2006/main">
              <a:ext uri="{FF2B5EF4-FFF2-40B4-BE49-F238E27FC236}">
                <a16:creationId xmlns:a16="http://schemas.microsoft.com/office/drawing/2014/main" id="{62DB96AB-F798-4902-834F-85FF69F7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4" name="line-30">
            <a:extLst xmlns:a="http://schemas.openxmlformats.org/drawingml/2006/main">
              <a:ext uri="{FF2B5EF4-FFF2-40B4-BE49-F238E27FC236}">
                <a16:creationId xmlns:a16="http://schemas.microsoft.com/office/drawing/2014/main" id="{FA43D66C-10C4-44F3-AE8E-6C89851A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979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3DA"/>
            </a:solidFill>
            <a:prstDash val="solid"/>
          </a:ln>
        </p:spPr>
      </p:sp>
      <p:sp>
        <p:nvSpPr>
          <p:cNvPr id="5" name="circle-31">
            <a:extLst xmlns:a="http://schemas.openxmlformats.org/drawingml/2006/main">
              <a:ext uri="{FF2B5EF4-FFF2-40B4-BE49-F238E27FC236}">
                <a16:creationId xmlns:a16="http://schemas.microsoft.com/office/drawing/2014/main" id="{094E61D9-6A45-453B-A6F6-BE0ACFB4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ircle-32">
            <a:extLst xmlns:a="http://schemas.openxmlformats.org/drawingml/2006/main">
              <a:ext uri="{FF2B5EF4-FFF2-40B4-BE49-F238E27FC236}">
                <a16:creationId xmlns:a16="http://schemas.microsoft.com/office/drawing/2014/main" id="{95FF95BE-381D-4DC0-BCD6-C7682DD5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05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ircle-33">
            <a:extLst xmlns:a="http://schemas.openxmlformats.org/drawingml/2006/main">
              <a:ext uri="{FF2B5EF4-FFF2-40B4-BE49-F238E27FC236}">
                <a16:creationId xmlns:a16="http://schemas.microsoft.com/office/drawing/2014/main" id="{8A1B6896-2FC1-4132-876D-E6EAA94F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ircle-34">
            <a:extLst xmlns:a="http://schemas.openxmlformats.org/drawingml/2006/main">
              <a:ext uri="{FF2B5EF4-FFF2-40B4-BE49-F238E27FC236}">
                <a16:creationId xmlns:a16="http://schemas.microsoft.com/office/drawing/2014/main" id="{4858AADE-D796-4BD4-8ACC-31F64C2D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05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ircle-35">
            <a:extLst xmlns:a="http://schemas.openxmlformats.org/drawingml/2006/main">
              <a:ext uri="{FF2B5EF4-FFF2-40B4-BE49-F238E27FC236}">
                <a16:creationId xmlns:a16="http://schemas.microsoft.com/office/drawing/2014/main" id="{2647212A-1564-41E8-A68D-ACB5B69A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67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ircle-36">
            <a:extLst xmlns:a="http://schemas.openxmlformats.org/drawingml/2006/main">
              <a:ext uri="{FF2B5EF4-FFF2-40B4-BE49-F238E27FC236}">
                <a16:creationId xmlns:a16="http://schemas.microsoft.com/office/drawing/2014/main" id="{9B5AD55D-63C4-4E71-B328-3D6CA8DE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705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37">
            <a:extLst xmlns:a="http://schemas.openxmlformats.org/drawingml/2006/main">
              <a:ext uri="{FF2B5EF4-FFF2-40B4-BE49-F238E27FC236}">
                <a16:creationId xmlns:a16="http://schemas.microsoft.com/office/drawing/2014/main" id="{2DFD3200-1928-458A-B7FB-3C7D058C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-38">
            <a:extLst xmlns:a="http://schemas.openxmlformats.org/drawingml/2006/main">
              <a:ext uri="{FF2B5EF4-FFF2-40B4-BE49-F238E27FC236}">
                <a16:creationId xmlns:a16="http://schemas.microsoft.com/office/drawing/2014/main" id="{918EC863-D964-46E4-B98E-3E6F5A5D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选摄影师</a:t>
            </a:r>
          </a:p>
        </p:txBody>
      </p:sp>
      <p:sp>
        <p:nvSpPr>
          <p:cNvPr id="13" name="text-39">
            <a:extLst xmlns:a="http://schemas.openxmlformats.org/drawingml/2006/main">
              <a:ext uri="{FF2B5EF4-FFF2-40B4-BE49-F238E27FC236}">
                <a16:creationId xmlns:a16="http://schemas.microsoft.com/office/drawing/2014/main" id="{934E7019-BC59-432F-B9A8-A315FEDB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确定拍摄时间</a:t>
            </a:r>
          </a:p>
        </p:txBody>
      </p:sp>
      <p:sp>
        <p:nvSpPr>
          <p:cNvPr id="14" name="text-40">
            <a:extLst xmlns:a="http://schemas.openxmlformats.org/drawingml/2006/main">
              <a:ext uri="{FF2B5EF4-FFF2-40B4-BE49-F238E27FC236}">
                <a16:creationId xmlns:a16="http://schemas.microsoft.com/office/drawing/2014/main" id="{8F10F891-825D-4754-8B98-9D281452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-41">
            <a:extLst xmlns:a="http://schemas.openxmlformats.org/drawingml/2006/main">
              <a:ext uri="{FF2B5EF4-FFF2-40B4-BE49-F238E27FC236}">
                <a16:creationId xmlns:a16="http://schemas.microsoft.com/office/drawing/2014/main" id="{0A8499C9-002E-4E81-8C51-AD34D6CB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选服务</a:t>
            </a:r>
          </a:p>
        </p:txBody>
      </p:sp>
      <p:sp>
        <p:nvSpPr>
          <p:cNvPr id="16" name="text-42">
            <a:extLst xmlns:a="http://schemas.openxmlformats.org/drawingml/2006/main">
              <a:ext uri="{FF2B5EF4-FFF2-40B4-BE49-F238E27FC236}">
                <a16:creationId xmlns:a16="http://schemas.microsoft.com/office/drawing/2014/main" id="{1C116134-7043-4EFC-933B-09BCCBBC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385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填写需求与妆造时间</a:t>
            </a:r>
          </a:p>
        </p:txBody>
      </p:sp>
      <p:sp>
        <p:nvSpPr>
          <p:cNvPr id="17" name="text-43">
            <a:extLst xmlns:a="http://schemas.openxmlformats.org/drawingml/2006/main">
              <a:ext uri="{FF2B5EF4-FFF2-40B4-BE49-F238E27FC236}">
                <a16:creationId xmlns:a16="http://schemas.microsoft.com/office/drawing/2014/main" id="{C8EB4427-E1B3-4012-9CE4-FBCD9E7F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812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-44">
            <a:extLst xmlns:a="http://schemas.openxmlformats.org/drawingml/2006/main">
              <a:ext uri="{FF2B5EF4-FFF2-40B4-BE49-F238E27FC236}">
                <a16:creationId xmlns:a16="http://schemas.microsoft.com/office/drawing/2014/main" id="{B9DD380A-192A-4CA2-8D4E-DFBE833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813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一次预付</a:t>
            </a:r>
          </a:p>
        </p:txBody>
      </p:sp>
      <p:sp>
        <p:nvSpPr>
          <p:cNvPr id="19" name="text-45">
            <a:extLst xmlns:a="http://schemas.openxmlformats.org/drawingml/2006/main">
              <a:ext uri="{FF2B5EF4-FFF2-40B4-BE49-F238E27FC236}">
                <a16:creationId xmlns:a16="http://schemas.microsoft.com/office/drawing/2014/main" id="{A7FC8A38-16FC-47B9-B14A-967CD063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看清清单和锁定总价</a:t>
            </a:r>
          </a:p>
        </p:txBody>
      </p:sp>
      <p:sp>
        <p:nvSpPr>
          <p:cNvPr id="20" name="text-46">
            <a:extLst xmlns:a="http://schemas.openxmlformats.org/drawingml/2006/main">
              <a:ext uri="{FF2B5EF4-FFF2-40B4-BE49-F238E27FC236}">
                <a16:creationId xmlns:a16="http://schemas.microsoft.com/office/drawing/2014/main" id="{EA248254-A0CA-46D4-9FA0-08176A60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text-47">
            <a:extLst xmlns:a="http://schemas.openxmlformats.org/drawingml/2006/main">
              <a:ext uri="{FF2B5EF4-FFF2-40B4-BE49-F238E27FC236}">
                <a16:creationId xmlns:a16="http://schemas.microsoft.com/office/drawing/2014/main" id="{FD5A7DB2-DEF9-4933-B73A-51ADE0E5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并行接单</a:t>
            </a:r>
          </a:p>
        </p:txBody>
      </p:sp>
      <p:sp>
        <p:nvSpPr>
          <p:cNvPr id="22" name="text-48">
            <a:extLst xmlns:a="http://schemas.openxmlformats.org/drawingml/2006/main">
              <a:ext uri="{FF2B5EF4-FFF2-40B4-BE49-F238E27FC236}">
                <a16:creationId xmlns:a16="http://schemas.microsoft.com/office/drawing/2014/main" id="{EA3032A3-9DE8-4A1B-A808-E658E3B4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摄影师与商家分别确认</a:t>
            </a:r>
          </a:p>
        </p:txBody>
      </p:sp>
      <p:sp>
        <p:nvSpPr>
          <p:cNvPr id="23" name="text-49">
            <a:extLst xmlns:a="http://schemas.openxmlformats.org/drawingml/2006/main">
              <a:ext uri="{FF2B5EF4-FFF2-40B4-BE49-F238E27FC236}">
                <a16:creationId xmlns:a16="http://schemas.microsoft.com/office/drawing/2014/main" id="{9244F85D-7768-4B88-B5AB-8026C0B6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text-50">
            <a:extLst xmlns:a="http://schemas.openxmlformats.org/drawingml/2006/main">
              <a:ext uri="{FF2B5EF4-FFF2-40B4-BE49-F238E27FC236}">
                <a16:creationId xmlns:a16="http://schemas.microsoft.com/office/drawing/2014/main" id="{0F8F9023-2656-4017-A033-31D1345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正式确认</a:t>
            </a:r>
          </a:p>
        </p:txBody>
      </p:sp>
      <p:sp>
        <p:nvSpPr>
          <p:cNvPr id="25" name="text-51">
            <a:extLst xmlns:a="http://schemas.openxmlformats.org/drawingml/2006/main">
              <a:ext uri="{FF2B5EF4-FFF2-40B4-BE49-F238E27FC236}">
                <a16:creationId xmlns:a16="http://schemas.microsoft.com/office/drawing/2014/main" id="{8D965B98-4190-490B-8358-3BA74D06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385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此时才显示营业电话</a:t>
            </a:r>
          </a:p>
        </p:txBody>
      </p:sp>
      <p:sp>
        <p:nvSpPr>
          <p:cNvPr id="26" name="text-52">
            <a:extLst xmlns:a="http://schemas.openxmlformats.org/drawingml/2006/main">
              <a:ext uri="{FF2B5EF4-FFF2-40B4-BE49-F238E27FC236}">
                <a16:creationId xmlns:a16="http://schemas.microsoft.com/office/drawing/2014/main" id="{104E13C3-20F9-47FF-B35D-7A2643F8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9812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text-53">
            <a:extLst xmlns:a="http://schemas.openxmlformats.org/drawingml/2006/main">
              <a:ext uri="{FF2B5EF4-FFF2-40B4-BE49-F238E27FC236}">
                <a16:creationId xmlns:a16="http://schemas.microsoft.com/office/drawing/2014/main" id="{32B56DD1-A5DD-402E-91FF-4C263A19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1813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线下履约</a:t>
            </a:r>
          </a:p>
        </p:txBody>
      </p:sp>
      <p:sp>
        <p:nvSpPr>
          <p:cNvPr id="28" name="text-54">
            <a:extLst xmlns:a="http://schemas.openxmlformats.org/drawingml/2006/main">
              <a:ext uri="{FF2B5EF4-FFF2-40B4-BE49-F238E27FC236}">
                <a16:creationId xmlns:a16="http://schemas.microsoft.com/office/drawing/2014/main" id="{9E138F22-FCEC-44C7-8F96-B0D6A37E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385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异常回到订单处理</a:t>
            </a:r>
          </a:p>
        </p:txBody>
      </p:sp>
      <p:sp>
        <p:nvSpPr>
          <p:cNvPr id="29" name="rect-55">
            <a:extLst xmlns:a="http://schemas.openxmlformats.org/drawingml/2006/main">
              <a:ext uri="{FF2B5EF4-FFF2-40B4-BE49-F238E27FC236}">
                <a16:creationId xmlns:a16="http://schemas.microsoft.com/office/drawing/2014/main" id="{5AAC5113-5296-4BCB-981D-5A4DD8E3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33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56">
            <a:extLst xmlns:a="http://schemas.openxmlformats.org/drawingml/2006/main">
              <a:ext uri="{FF2B5EF4-FFF2-40B4-BE49-F238E27FC236}">
                <a16:creationId xmlns:a16="http://schemas.microsoft.com/office/drawing/2014/main" id="{60394F6C-8411-4993-88F4-A85675B7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57800"/>
            <a:ext cx="868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电话用于临近核对路线、准备事项与已成交细节；不是成交前咨询，也不是二次预约。</a:t>
            </a:r>
          </a:p>
          <a:p xmlns:a="http://schemas.openxmlformats.org/drawingml/2006/main">
            <a:pPr algn="ctr">
              <a:def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用户不打电话，不影响已确认预约的效力。</a:t>
            </a:r>
          </a:p>
        </p:txBody>
      </p:sp>
      <p:sp>
        <p:nvSpPr>
          <p:cNvPr id="31" name="slide-4-footer-label">
            <a:extLst xmlns:a="http://schemas.openxmlformats.org/drawingml/2006/main">
              <a:ext uri="{FF2B5EF4-FFF2-40B4-BE49-F238E27FC236}">
                <a16:creationId xmlns:a16="http://schemas.microsoft.com/office/drawing/2014/main" id="{02796ADF-FD52-4312-A7E2-B4E3E42F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Still 商家受控试点</a:t>
            </a:r>
          </a:p>
        </p:txBody>
      </p:sp>
      <p:sp>
        <p:nvSpPr>
          <p:cNvPr id="32" name="slide-4-footer-number">
            <a:extLst xmlns:a="http://schemas.openxmlformats.org/drawingml/2006/main">
              <a:ext uri="{FF2B5EF4-FFF2-40B4-BE49-F238E27FC236}">
                <a16:creationId xmlns:a16="http://schemas.microsoft.com/office/drawing/2014/main" id="{E9F18704-7DC5-4771-84A3-4D45D034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08649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5-kicker">
            <a:extLst xmlns:a="http://schemas.openxmlformats.org/drawingml/2006/main">
              <a:ext uri="{FF2B5EF4-FFF2-40B4-BE49-F238E27FC236}">
                <a16:creationId xmlns:a16="http://schemas.microsoft.com/office/drawing/2014/main" id="{E80DF207-E5D5-4EE0-8D25-016FB449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门店怎么用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81AABBF-28FA-4BB6-ACBC-F72C430A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商家端最小操作，只有四件事</a:t>
            </a:r>
          </a:p>
        </p:txBody>
      </p:sp>
      <p:sp>
        <p:nvSpPr>
          <p:cNvPr id="3" name="line-57">
            <a:extLst xmlns:a="http://schemas.openxmlformats.org/drawingml/2006/main">
              <a:ext uri="{FF2B5EF4-FFF2-40B4-BE49-F238E27FC236}">
                <a16:creationId xmlns:a16="http://schemas.microsoft.com/office/drawing/2014/main" id="{428AC857-3D41-49CC-874C-A9D74957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4" name="text-58">
            <a:extLst xmlns:a="http://schemas.openxmlformats.org/drawingml/2006/main">
              <a:ext uri="{FF2B5EF4-FFF2-40B4-BE49-F238E27FC236}">
                <a16:creationId xmlns:a16="http://schemas.microsoft.com/office/drawing/2014/main" id="{8B4F2F4F-7F57-463C-BED0-EE1F1743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59">
            <a:extLst xmlns:a="http://schemas.openxmlformats.org/drawingml/2006/main">
              <a:ext uri="{FF2B5EF4-FFF2-40B4-BE49-F238E27FC236}">
                <a16:creationId xmlns:a16="http://schemas.microsoft.com/office/drawing/2014/main" id="{B72D33AD-4AAD-49A7-A484-C6838E7E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上架</a:t>
            </a:r>
          </a:p>
        </p:txBody>
      </p:sp>
      <p:sp>
        <p:nvSpPr>
          <p:cNvPr id="6" name="line-60">
            <a:extLst xmlns:a="http://schemas.openxmlformats.org/drawingml/2006/main">
              <a:ext uri="{FF2B5EF4-FFF2-40B4-BE49-F238E27FC236}">
                <a16:creationId xmlns:a16="http://schemas.microsoft.com/office/drawing/2014/main" id="{D35DC916-F969-45DF-AB34-EE48DD7E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text-61">
            <a:extLst xmlns:a="http://schemas.openxmlformats.org/drawingml/2006/main">
              <a:ext uri="{FF2B5EF4-FFF2-40B4-BE49-F238E27FC236}">
                <a16:creationId xmlns:a16="http://schemas.microsoft.com/office/drawing/2014/main" id="{2EB4FBD3-35E2-4368-8D47-267C57CB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维护 1—3 个固定价套餐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价格、时长、包含项说清楚</a:t>
            </a:r>
          </a:p>
        </p:txBody>
      </p:sp>
      <p:sp>
        <p:nvSpPr>
          <p:cNvPr id="8" name="text-62">
            <a:extLst xmlns:a="http://schemas.openxmlformats.org/drawingml/2006/main">
              <a:ext uri="{FF2B5EF4-FFF2-40B4-BE49-F238E27FC236}">
                <a16:creationId xmlns:a16="http://schemas.microsoft.com/office/drawing/2014/main" id="{0FF9F647-0BDA-4510-A91F-43F82A72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907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63">
            <a:extLst xmlns:a="http://schemas.openxmlformats.org/drawingml/2006/main">
              <a:ext uri="{FF2B5EF4-FFF2-40B4-BE49-F238E27FC236}">
                <a16:creationId xmlns:a16="http://schemas.microsoft.com/office/drawing/2014/main" id="{8DA97F39-280B-464A-9491-B54CF64E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431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接单</a:t>
            </a:r>
          </a:p>
        </p:txBody>
      </p:sp>
      <p:sp>
        <p:nvSpPr>
          <p:cNvPr id="10" name="line-64">
            <a:extLst xmlns:a="http://schemas.openxmlformats.org/drawingml/2006/main">
              <a:ext uri="{FF2B5EF4-FFF2-40B4-BE49-F238E27FC236}">
                <a16:creationId xmlns:a16="http://schemas.microsoft.com/office/drawing/2014/main" id="{B8AB01DB-812A-49F5-8697-4E269AF6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99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3DA"/>
            </a:solidFill>
            <a:prstDash val="solid"/>
          </a:ln>
        </p:spPr>
      </p:sp>
      <p:sp>
        <p:nvSpPr>
          <p:cNvPr id="11" name="text-65">
            <a:extLst xmlns:a="http://schemas.openxmlformats.org/drawingml/2006/main">
              <a:ext uri="{FF2B5EF4-FFF2-40B4-BE49-F238E27FC236}">
                <a16:creationId xmlns:a16="http://schemas.microsoft.com/office/drawing/2014/main" id="{84235FCD-0882-4A37-A054-167CC3D8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33750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查看已预付的时间与需求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接受或选择原因拒绝</a:t>
            </a:r>
          </a:p>
        </p:txBody>
      </p:sp>
      <p:sp>
        <p:nvSpPr>
          <p:cNvPr id="12" name="text-66">
            <a:extLst xmlns:a="http://schemas.openxmlformats.org/drawingml/2006/main">
              <a:ext uri="{FF2B5EF4-FFF2-40B4-BE49-F238E27FC236}">
                <a16:creationId xmlns:a16="http://schemas.microsoft.com/office/drawing/2014/main" id="{44B195AE-2EC0-4619-97EA-B43B431A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907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-67">
            <a:extLst xmlns:a="http://schemas.openxmlformats.org/drawingml/2006/main">
              <a:ext uri="{FF2B5EF4-FFF2-40B4-BE49-F238E27FC236}">
                <a16:creationId xmlns:a16="http://schemas.microsoft.com/office/drawing/2014/main" id="{4E844079-EC91-4F15-8368-21022116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431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履约</a:t>
            </a:r>
          </a:p>
        </p:txBody>
      </p:sp>
      <p:sp>
        <p:nvSpPr>
          <p:cNvPr id="14" name="line-68">
            <a:extLst xmlns:a="http://schemas.openxmlformats.org/drawingml/2006/main">
              <a:ext uri="{FF2B5EF4-FFF2-40B4-BE49-F238E27FC236}">
                <a16:creationId xmlns:a16="http://schemas.microsoft.com/office/drawing/2014/main" id="{5768F7B2-A5B3-4418-9D5F-41DA7614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99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3DA"/>
            </a:solidFill>
            <a:prstDash val="solid"/>
          </a:ln>
        </p:spPr>
      </p:sp>
      <p:sp>
        <p:nvSpPr>
          <p:cNvPr id="15" name="text-69">
            <a:extLst xmlns:a="http://schemas.openxmlformats.org/drawingml/2006/main">
              <a:ext uri="{FF2B5EF4-FFF2-40B4-BE49-F238E27FC236}">
                <a16:creationId xmlns:a16="http://schemas.microsoft.com/office/drawing/2014/main" id="{39EA616A-74BA-4DFC-A068-4AAE9D84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按确认内容到店服务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变更只让受影响方确认</a:t>
            </a:r>
          </a:p>
        </p:txBody>
      </p:sp>
      <p:sp>
        <p:nvSpPr>
          <p:cNvPr id="16" name="text-70">
            <a:extLst xmlns:a="http://schemas.openxmlformats.org/drawingml/2006/main">
              <a:ext uri="{FF2B5EF4-FFF2-40B4-BE49-F238E27FC236}">
                <a16:creationId xmlns:a16="http://schemas.microsoft.com/office/drawing/2014/main" id="{D90C2752-FB56-415E-9895-F1B278EE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-71">
            <a:extLst xmlns:a="http://schemas.openxmlformats.org/drawingml/2006/main">
              <a:ext uri="{FF2B5EF4-FFF2-40B4-BE49-F238E27FC236}">
                <a16:creationId xmlns:a16="http://schemas.microsoft.com/office/drawing/2014/main" id="{421DD1AB-5563-4A0A-ABE7-319392D9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完成 / 异常</a:t>
            </a:r>
          </a:p>
        </p:txBody>
      </p:sp>
      <p:sp>
        <p:nvSpPr>
          <p:cNvPr id="18" name="line-72">
            <a:extLst xmlns:a="http://schemas.openxmlformats.org/drawingml/2006/main">
              <a:ext uri="{FF2B5EF4-FFF2-40B4-BE49-F238E27FC236}">
                <a16:creationId xmlns:a16="http://schemas.microsoft.com/office/drawing/2014/main" id="{9D92661F-280B-40B9-9439-8BFDED2C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3DA"/>
            </a:solidFill>
            <a:prstDash val="solid"/>
          </a:ln>
        </p:spPr>
      </p:sp>
      <p:sp>
        <p:nvSpPr>
          <p:cNvPr id="19" name="text-73">
            <a:extLst xmlns:a="http://schemas.openxmlformats.org/drawingml/2006/main">
              <a:ext uri="{FF2B5EF4-FFF2-40B4-BE49-F238E27FC236}">
                <a16:creationId xmlns:a16="http://schemas.microsoft.com/office/drawing/2014/main" id="{CE7A36F3-9EA3-4901-8A67-E9CA8B00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标记完成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或从订单发起异常与客服</a:t>
            </a:r>
          </a:p>
        </p:txBody>
      </p:sp>
      <p:sp>
        <p:nvSpPr>
          <p:cNvPr id="20" name="rect-74">
            <a:extLst xmlns:a="http://schemas.openxmlformats.org/drawingml/2006/main">
              <a:ext uri="{FF2B5EF4-FFF2-40B4-BE49-F238E27FC236}">
                <a16:creationId xmlns:a16="http://schemas.microsoft.com/office/drawing/2014/main" id="{271EF131-43E5-47DE-9AD6-8627EA30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11163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E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75">
            <a:extLst xmlns:a="http://schemas.openxmlformats.org/drawingml/2006/main">
              <a:ext uri="{FF2B5EF4-FFF2-40B4-BE49-F238E27FC236}">
                <a16:creationId xmlns:a16="http://schemas.microsoft.com/office/drawing/2014/main" id="{06607B20-65F7-4EC6-9F91-29BEFB11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Still 不同步或接入美团 / 抖音等外部订单与库存；商家原渠道照常使用。</a:t>
            </a:r>
          </a:p>
        </p:txBody>
      </p:sp>
      <p:sp>
        <p:nvSpPr>
          <p:cNvPr id="22" name="slide-5-footer-label">
            <a:extLst xmlns:a="http://schemas.openxmlformats.org/drawingml/2006/main">
              <a:ext uri="{FF2B5EF4-FFF2-40B4-BE49-F238E27FC236}">
                <a16:creationId xmlns:a16="http://schemas.microsoft.com/office/drawing/2014/main" id="{29FEABA4-B1B0-45CF-ADB4-AD77A358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Still 商家受控试点</a:t>
            </a:r>
          </a:p>
        </p:txBody>
      </p:sp>
      <p:sp>
        <p:nvSpPr>
          <p:cNvPr id="23" name="slide-5-footer-number">
            <a:extLst xmlns:a="http://schemas.openxmlformats.org/drawingml/2006/main">
              <a:ext uri="{FF2B5EF4-FFF2-40B4-BE49-F238E27FC236}">
                <a16:creationId xmlns:a16="http://schemas.microsoft.com/office/drawing/2014/main" id="{F4818310-6625-4F76-941D-11DAC5D9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0681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6-kicker">
            <a:extLst xmlns:a="http://schemas.openxmlformats.org/drawingml/2006/main">
              <a:ext uri="{FF2B5EF4-FFF2-40B4-BE49-F238E27FC236}">
                <a16:creationId xmlns:a16="http://schemas.microsoft.com/office/drawing/2014/main" id="{7F91C6A0-652B-4C65-B130-62245DB2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商务数字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6D9C3286-30E0-4ECF-A604-F8B95BBF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试点成本可算清，也不把结果说满</a:t>
            </a:r>
          </a:p>
        </p:txBody>
      </p:sp>
      <p:sp>
        <p:nvSpPr>
          <p:cNvPr id="3" name="line-76">
            <a:extLst xmlns:a="http://schemas.openxmlformats.org/drawingml/2006/main">
              <a:ext uri="{FF2B5EF4-FFF2-40B4-BE49-F238E27FC236}">
                <a16:creationId xmlns:a16="http://schemas.microsoft.com/office/drawing/2014/main" id="{D31AE969-9815-467C-A59A-225BE383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4" name="text-77">
            <a:extLst xmlns:a="http://schemas.openxmlformats.org/drawingml/2006/main">
              <a:ext uri="{FF2B5EF4-FFF2-40B4-BE49-F238E27FC236}">
                <a16:creationId xmlns:a16="http://schemas.microsoft.com/office/drawing/2014/main" id="{A77CC89F-8D0C-4C5A-8974-A78AA6D6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 元</a:t>
            </a:r>
          </a:p>
        </p:txBody>
      </p:sp>
      <p:sp>
        <p:nvSpPr>
          <p:cNvPr id="5" name="text-78">
            <a:extLst xmlns:a="http://schemas.openxmlformats.org/drawingml/2006/main">
              <a:ext uri="{FF2B5EF4-FFF2-40B4-BE49-F238E27FC236}">
                <a16:creationId xmlns:a16="http://schemas.microsoft.com/office/drawing/2014/main" id="{98BFDC56-8628-4D26-856B-6AFBA235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入驻 / 软件 / 年费</a:t>
            </a:r>
          </a:p>
        </p:txBody>
      </p:sp>
      <p:sp>
        <p:nvSpPr>
          <p:cNvPr id="6" name="text-79">
            <a:extLst xmlns:a="http://schemas.openxmlformats.org/drawingml/2006/main">
              <a:ext uri="{FF2B5EF4-FFF2-40B4-BE49-F238E27FC236}">
                <a16:creationId xmlns:a16="http://schemas.microsoft.com/office/drawing/2014/main" id="{C22F75E9-5971-425C-BCE2-5793C507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商家自行定价；Still 不擅自改价</a:t>
            </a:r>
          </a:p>
        </p:txBody>
      </p:sp>
      <p:sp>
        <p:nvSpPr>
          <p:cNvPr id="7" name="text-80">
            <a:extLst xmlns:a="http://schemas.openxmlformats.org/drawingml/2006/main">
              <a:ext uri="{FF2B5EF4-FFF2-40B4-BE49-F238E27FC236}">
                <a16:creationId xmlns:a16="http://schemas.microsoft.com/office/drawing/2014/main" id="{39445DB8-CB20-4A00-ADD2-F2DB78D3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5735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8%</a:t>
            </a:r>
          </a:p>
        </p:txBody>
      </p:sp>
      <p:sp>
        <p:nvSpPr>
          <p:cNvPr id="8" name="text-81">
            <a:extLst xmlns:a="http://schemas.openxmlformats.org/drawingml/2006/main">
              <a:ext uri="{FF2B5EF4-FFF2-40B4-BE49-F238E27FC236}">
                <a16:creationId xmlns:a16="http://schemas.microsoft.com/office/drawing/2014/main" id="{3DF6776F-ED87-462E-8498-A9E43217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摄影 / 商家项分别计佣</a:t>
            </a:r>
          </a:p>
        </p:txBody>
      </p:sp>
      <p:sp>
        <p:nvSpPr>
          <p:cNvPr id="9" name="text-82">
            <a:extLst xmlns:a="http://schemas.openxmlformats.org/drawingml/2006/main">
              <a:ext uri="{FF2B5EF4-FFF2-40B4-BE49-F238E27FC236}">
                <a16:creationId xmlns:a16="http://schemas.microsoft.com/office/drawing/2014/main" id="{31C33E6B-286B-4690-BC55-7DC161FA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按各自计佣基数；20%补偿不计佣</a:t>
            </a:r>
          </a:p>
        </p:txBody>
      </p:sp>
      <p:sp>
        <p:nvSpPr>
          <p:cNvPr id="10" name="text-83">
            <a:extLst xmlns:a="http://schemas.openxmlformats.org/drawingml/2006/main">
              <a:ext uri="{FF2B5EF4-FFF2-40B4-BE49-F238E27FC236}">
                <a16:creationId xmlns:a16="http://schemas.microsoft.com/office/drawing/2014/main" id="{7E43FA08-4361-47C5-8EBC-EA234777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5735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30 天 / 10 笔</a:t>
            </a:r>
          </a:p>
        </p:txBody>
      </p:sp>
      <p:sp>
        <p:nvSpPr>
          <p:cNvPr id="11" name="text-84">
            <a:extLst xmlns:a="http://schemas.openxmlformats.org/drawingml/2006/main">
              <a:ext uri="{FF2B5EF4-FFF2-40B4-BE49-F238E27FC236}">
                <a16:creationId xmlns:a16="http://schemas.microsoft.com/office/drawing/2014/main" id="{E6CFDC4C-DB15-44F8-8CA4-D24F639F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19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试点先到为准</a:t>
            </a:r>
          </a:p>
        </p:txBody>
      </p:sp>
      <p:sp>
        <p:nvSpPr>
          <p:cNvPr id="12" name="text-85">
            <a:extLst xmlns:a="http://schemas.openxmlformats.org/drawingml/2006/main">
              <a:ext uri="{FF2B5EF4-FFF2-40B4-BE49-F238E27FC236}">
                <a16:creationId xmlns:a16="http://schemas.microsoft.com/office/drawing/2014/main" id="{83D1B303-403F-46B4-A3EF-1953DC8E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从首笔真实组合订单起；10 笔须已完成</a:t>
            </a:r>
          </a:p>
        </p:txBody>
      </p:sp>
      <p:sp>
        <p:nvSpPr>
          <p:cNvPr id="13" name="line-86">
            <a:extLst xmlns:a="http://schemas.openxmlformats.org/drawingml/2006/main">
              <a:ext uri="{FF2B5EF4-FFF2-40B4-BE49-F238E27FC236}">
                <a16:creationId xmlns:a16="http://schemas.microsoft.com/office/drawing/2014/main" id="{6D0F225D-CF95-4EA8-8351-75218E3A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14" name="text-87">
            <a:extLst xmlns:a="http://schemas.openxmlformats.org/drawingml/2006/main">
              <a:ext uri="{FF2B5EF4-FFF2-40B4-BE49-F238E27FC236}">
                <a16:creationId xmlns:a16="http://schemas.microsoft.com/office/drawing/2014/main" id="{B16BA00A-C89E-40ED-B4AA-E312C1BB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平台券不压低服务方结算</a:t>
            </a:r>
          </a:p>
        </p:txBody>
      </p:sp>
      <p:sp>
        <p:nvSpPr>
          <p:cNvPr id="15" name="text-88">
            <a:extLst xmlns:a="http://schemas.openxmlformats.org/drawingml/2006/main">
              <a:ext uri="{FF2B5EF4-FFF2-40B4-BE49-F238E27FC236}">
                <a16:creationId xmlns:a16="http://schemas.microsoft.com/office/drawing/2014/main" id="{4F815FAE-2DFE-4553-A441-D7202A9D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100 元服务使用 10 元平台券</a:t>
            </a:r>
          </a:p>
          <a:p xmlns:a="http://schemas.openxmlformats.org/drawingml/2006/main">
            <a:pPr algn="l">
              <a:def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用户付 90 元｜Still 补 10 元｜服务方仍应结 92 元</a:t>
            </a:r>
          </a:p>
        </p:txBody>
      </p:sp>
      <p:sp>
        <p:nvSpPr>
          <p:cNvPr id="16" name="text-89">
            <a:extLst xmlns:a="http://schemas.openxmlformats.org/drawingml/2006/main">
              <a:ext uri="{FF2B5EF4-FFF2-40B4-BE49-F238E27FC236}">
                <a16:creationId xmlns:a16="http://schemas.microsoft.com/office/drawing/2014/main" id="{75713F62-8413-4A09-BCCF-CC4F6095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用户责任取消的 20%不计佣</a:t>
            </a:r>
          </a:p>
        </p:txBody>
      </p:sp>
      <p:sp>
        <p:nvSpPr>
          <p:cNvPr id="17" name="text-90">
            <a:extLst xmlns:a="http://schemas.openxmlformats.org/drawingml/2006/main">
              <a:ext uri="{FF2B5EF4-FFF2-40B4-BE49-F238E27FC236}">
                <a16:creationId xmlns:a16="http://schemas.microsoft.com/office/drawing/2014/main" id="{65EE290C-8F1B-4719-BDA3-35768228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退还 80 元服务价值</a:t>
            </a:r>
          </a:p>
          <a:p xmlns:a="http://schemas.openxmlformats.org/drawingml/2006/main">
            <a:pPr algn="l">
              <a:def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服务方获 20 元档期补偿｜平台佣金 0 元</a:t>
            </a:r>
          </a:p>
        </p:txBody>
      </p:sp>
      <p:sp>
        <p:nvSpPr>
          <p:cNvPr id="18" name="text-91">
            <a:extLst xmlns:a="http://schemas.openxmlformats.org/drawingml/2006/main">
              <a:ext uri="{FF2B5EF4-FFF2-40B4-BE49-F238E27FC236}">
                <a16:creationId xmlns:a16="http://schemas.microsoft.com/office/drawing/2014/main" id="{EA6ED486-0121-48F3-A1F1-8C70B6E1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通道费由 Still 承担；非独家；不承诺订单量、实时库存或永久免费；费率变化须书面确认。</a:t>
            </a:r>
          </a:p>
        </p:txBody>
      </p:sp>
      <p:sp>
        <p:nvSpPr>
          <p:cNvPr id="19" name="slide-6-footer-label">
            <a:extLst xmlns:a="http://schemas.openxmlformats.org/drawingml/2006/main">
              <a:ext uri="{FF2B5EF4-FFF2-40B4-BE49-F238E27FC236}">
                <a16:creationId xmlns:a16="http://schemas.microsoft.com/office/drawing/2014/main" id="{9F4C378D-99FD-46DB-B3C6-4B8487B8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Still 商家受控试点</a:t>
            </a:r>
          </a:p>
        </p:txBody>
      </p:sp>
      <p:sp>
        <p:nvSpPr>
          <p:cNvPr id="20" name="slide-6-footer-number">
            <a:extLst xmlns:a="http://schemas.openxmlformats.org/drawingml/2006/main">
              <a:ext uri="{FF2B5EF4-FFF2-40B4-BE49-F238E27FC236}">
                <a16:creationId xmlns:a16="http://schemas.microsoft.com/office/drawing/2014/main" id="{B83420AE-B190-47DF-8B48-0D96DBFF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79285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7-kicker">
            <a:extLst xmlns:a="http://schemas.openxmlformats.org/drawingml/2006/main">
              <a:ext uri="{FF2B5EF4-FFF2-40B4-BE49-F238E27FC236}">
                <a16:creationId xmlns:a16="http://schemas.microsoft.com/office/drawing/2014/main" id="{8964E1A7-81AF-45CA-BA6B-DAD997A7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时间与接单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D4A28B2-F5E7-43D5-B71A-F7A97BC3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接单是明确请求，不是让门店提前空出库存</a:t>
            </a:r>
          </a:p>
        </p:txBody>
      </p:sp>
      <p:sp>
        <p:nvSpPr>
          <p:cNvPr id="3" name="line-92">
            <a:extLst xmlns:a="http://schemas.openxmlformats.org/drawingml/2006/main">
              <a:ext uri="{FF2B5EF4-FFF2-40B4-BE49-F238E27FC236}">
                <a16:creationId xmlns:a16="http://schemas.microsoft.com/office/drawing/2014/main" id="{AA78A8C5-4620-414D-9DD2-623F2405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4" name="text-93">
            <a:extLst xmlns:a="http://schemas.openxmlformats.org/drawingml/2006/main">
              <a:ext uri="{FF2B5EF4-FFF2-40B4-BE49-F238E27FC236}">
                <a16:creationId xmlns:a16="http://schemas.microsoft.com/office/drawing/2014/main" id="{4F9A6BF6-2D9A-4557-AB98-A7AEB430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2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text-94">
            <a:extLst xmlns:a="http://schemas.openxmlformats.org/drawingml/2006/main">
              <a:ext uri="{FF2B5EF4-FFF2-40B4-BE49-F238E27FC236}">
                <a16:creationId xmlns:a16="http://schemas.microsoft.com/office/drawing/2014/main" id="{DEADC30E-458A-49AB-A646-F56AF1F1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90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个有效营业小时</a:t>
            </a:r>
          </a:p>
        </p:txBody>
      </p:sp>
      <p:sp>
        <p:nvSpPr>
          <p:cNvPr id="6" name="text-95">
            <a:extLst xmlns:a="http://schemas.openxmlformats.org/drawingml/2006/main">
              <a:ext uri="{FF2B5EF4-FFF2-40B4-BE49-F238E27FC236}">
                <a16:creationId xmlns:a16="http://schemas.microsoft.com/office/drawing/2014/main" id="{9C386B59-DBBA-48AB-B6C6-485B84C2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商家普通订单确认时限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只按已公布营业时间计时</a:t>
            </a:r>
          </a:p>
        </p:txBody>
      </p:sp>
      <p:sp>
        <p:nvSpPr>
          <p:cNvPr id="7" name="line-96">
            <a:extLst xmlns:a="http://schemas.openxmlformats.org/drawingml/2006/main">
              <a:ext uri="{FF2B5EF4-FFF2-40B4-BE49-F238E27FC236}">
                <a16:creationId xmlns:a16="http://schemas.microsoft.com/office/drawing/2014/main" id="{29D88446-E2FE-46F3-B024-A2D3681B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52600"/>
            <a:ext cx="0" cy="3467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8" name="text-97">
            <a:extLst xmlns:a="http://schemas.openxmlformats.org/drawingml/2006/main">
              <a:ext uri="{FF2B5EF4-FFF2-40B4-BE49-F238E27FC236}">
                <a16:creationId xmlns:a16="http://schemas.microsoft.com/office/drawing/2014/main" id="{72B12803-3E3C-475B-8024-DFAB5D5A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同时还有两条边界</a:t>
            </a:r>
          </a:p>
        </p:txBody>
      </p:sp>
      <p:sp>
        <p:nvSpPr>
          <p:cNvPr id="9" name="text-98">
            <a:extLst xmlns:a="http://schemas.openxmlformats.org/drawingml/2006/main">
              <a:ext uri="{FF2B5EF4-FFF2-40B4-BE49-F238E27FC236}">
                <a16:creationId xmlns:a16="http://schemas.microsoft.com/office/drawing/2014/main" id="{5B0A7980-000C-49C2-93BD-698F615F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摄影师普通订单：4 个有效接单小时</a:t>
            </a:r>
          </a:p>
        </p:txBody>
      </p:sp>
      <p:sp>
        <p:nvSpPr>
          <p:cNvPr id="10" name="text-99">
            <a:extLst xmlns:a="http://schemas.openxmlformats.org/drawingml/2006/main">
              <a:ext uri="{FF2B5EF4-FFF2-40B4-BE49-F238E27FC236}">
                <a16:creationId xmlns:a16="http://schemas.microsoft.com/office/drawing/2014/main" id="{8D72ABC7-D23A-4C02-84FE-E045F86A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523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距离最早服务不足 24 小时：仅向主动开启“紧急可接单”的服务方发单，时限 30 分钟</a:t>
            </a:r>
          </a:p>
        </p:txBody>
      </p:sp>
      <p:sp>
        <p:nvSpPr>
          <p:cNvPr id="11" name="rect-100">
            <a:extLst xmlns:a="http://schemas.openxmlformats.org/drawingml/2006/main">
              <a:ext uri="{FF2B5EF4-FFF2-40B4-BE49-F238E27FC236}">
                <a16:creationId xmlns:a16="http://schemas.microsoft.com/office/drawing/2014/main" id="{BD36180D-762F-4DF6-AABE-8B6C04DC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5238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01">
            <a:extLst xmlns:a="http://schemas.openxmlformats.org/drawingml/2006/main">
              <a:ext uri="{FF2B5EF4-FFF2-40B4-BE49-F238E27FC236}">
                <a16:creationId xmlns:a16="http://schemas.microsoft.com/office/drawing/2014/main" id="{D87F7724-4E82-441E-914B-6756DC14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62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商家拒绝或超时后，用户可：</a:t>
            </a:r>
          </a:p>
          <a:p xmlns:a="http://schemas.openxmlformats.org/drawingml/2006/main">
            <a:pPr algn="l">
              <a:def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① 保留摄影并退回商家项　② 取消整单并全额退款</a:t>
            </a:r>
          </a:p>
        </p:txBody>
      </p:sp>
      <p:sp>
        <p:nvSpPr>
          <p:cNvPr id="13" name="text-102">
            <a:extLst xmlns:a="http://schemas.openxmlformats.org/drawingml/2006/main">
              <a:ext uri="{FF2B5EF4-FFF2-40B4-BE49-F238E27FC236}">
                <a16:creationId xmlns:a16="http://schemas.microsoft.com/office/drawing/2014/main" id="{38DF400D-E666-4CC3-A80C-C74F68D3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双方都接受后才开放营业电话；此时门店才承诺订单中的时间、价格与服务范围。</a:t>
            </a:r>
          </a:p>
        </p:txBody>
      </p:sp>
      <p:sp>
        <p:nvSpPr>
          <p:cNvPr id="14" name="slide-7-footer-label">
            <a:extLst xmlns:a="http://schemas.openxmlformats.org/drawingml/2006/main">
              <a:ext uri="{FF2B5EF4-FFF2-40B4-BE49-F238E27FC236}">
                <a16:creationId xmlns:a16="http://schemas.microsoft.com/office/drawing/2014/main" id="{E6ACF538-901B-4DB6-BBF2-791899DA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Still 商家受控试点</a:t>
            </a:r>
          </a:p>
        </p:txBody>
      </p:sp>
      <p:sp>
        <p:nvSpPr>
          <p:cNvPr id="15" name="slide-7-footer-number">
            <a:extLst xmlns:a="http://schemas.openxmlformats.org/drawingml/2006/main">
              <a:ext uri="{FF2B5EF4-FFF2-40B4-BE49-F238E27FC236}">
                <a16:creationId xmlns:a16="http://schemas.microsoft.com/office/drawing/2014/main" id="{5858B61E-4EF9-47AD-A1D8-07AD75E0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33069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8-kicker">
            <a:extLst xmlns:a="http://schemas.openxmlformats.org/drawingml/2006/main">
              <a:ext uri="{FF2B5EF4-FFF2-40B4-BE49-F238E27FC236}">
                <a16:creationId xmlns:a16="http://schemas.microsoft.com/office/drawing/2014/main" id="{7C2C044C-B299-4400-8D79-73BF7594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异常边界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334FF8C8-D7D9-48F1-8191-DA00FF4B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退改与结算按“受影响服务项”处理</a:t>
            </a:r>
          </a:p>
        </p:txBody>
      </p:sp>
      <p:sp>
        <p:nvSpPr>
          <p:cNvPr id="3" name="line-103">
            <a:extLst xmlns:a="http://schemas.openxmlformats.org/drawingml/2006/main">
              <a:ext uri="{FF2B5EF4-FFF2-40B4-BE49-F238E27FC236}">
                <a16:creationId xmlns:a16="http://schemas.microsoft.com/office/drawing/2014/main" id="{715E15DB-0737-4E4E-8D7B-A63D8E54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4" name="text-104">
            <a:extLst xmlns:a="http://schemas.openxmlformats.org/drawingml/2006/main">
              <a:ext uri="{FF2B5EF4-FFF2-40B4-BE49-F238E27FC236}">
                <a16:creationId xmlns:a16="http://schemas.microsoft.com/office/drawing/2014/main" id="{08E58F06-2269-451B-B238-5C280642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情形</a:t>
            </a:r>
          </a:p>
        </p:txBody>
      </p:sp>
      <p:sp>
        <p:nvSpPr>
          <p:cNvPr id="5" name="text-105">
            <a:extLst xmlns:a="http://schemas.openxmlformats.org/drawingml/2006/main">
              <a:ext uri="{FF2B5EF4-FFF2-40B4-BE49-F238E27FC236}">
                <a16:creationId xmlns:a16="http://schemas.microsoft.com/office/drawing/2014/main" id="{EEED71FC-4B3D-4853-B1ED-AA13D7AF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954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6" name="line-106">
            <a:extLst xmlns:a="http://schemas.openxmlformats.org/drawingml/2006/main">
              <a:ext uri="{FF2B5EF4-FFF2-40B4-BE49-F238E27FC236}">
                <a16:creationId xmlns:a16="http://schemas.microsoft.com/office/drawing/2014/main" id="{1D661E82-C909-4B1B-A401-8937F0A8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7" name="text-107">
            <a:extLst xmlns:a="http://schemas.openxmlformats.org/drawingml/2006/main">
              <a:ext uri="{FF2B5EF4-FFF2-40B4-BE49-F238E27FC236}">
                <a16:creationId xmlns:a16="http://schemas.microsoft.com/office/drawing/2014/main" id="{FB211822-EA39-484E-8E05-A99F5E82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距最早服务 &gt; 24 小时，用户取消</a:t>
            </a:r>
          </a:p>
        </p:txBody>
      </p:sp>
      <p:sp>
        <p:nvSpPr>
          <p:cNvPr id="8" name="text-108">
            <a:extLst xmlns:a="http://schemas.openxmlformats.org/drawingml/2006/main">
              <a:ext uri="{FF2B5EF4-FFF2-40B4-BE49-F238E27FC236}">
                <a16:creationId xmlns:a16="http://schemas.microsoft.com/office/drawing/2014/main" id="{A0AFE077-675A-463D-98E9-3DB015A3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526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全额退款</a:t>
            </a:r>
          </a:p>
        </p:txBody>
      </p:sp>
      <p:sp>
        <p:nvSpPr>
          <p:cNvPr id="9" name="line-109">
            <a:extLst xmlns:a="http://schemas.openxmlformats.org/drawingml/2006/main">
              <a:ext uri="{FF2B5EF4-FFF2-40B4-BE49-F238E27FC236}">
                <a16:creationId xmlns:a16="http://schemas.microsoft.com/office/drawing/2014/main" id="{96BE81F2-6878-459B-82A8-8055EC9F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10" name="text-110">
            <a:extLst xmlns:a="http://schemas.openxmlformats.org/drawingml/2006/main">
              <a:ext uri="{FF2B5EF4-FFF2-40B4-BE49-F238E27FC236}">
                <a16:creationId xmlns:a16="http://schemas.microsoft.com/office/drawing/2014/main" id="{73861E7F-B3B8-47AF-BC84-7ADC95FC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距最早服务 &lt; 24 小时，确认用户责任</a:t>
            </a:r>
          </a:p>
        </p:txBody>
      </p:sp>
      <p:sp>
        <p:nvSpPr>
          <p:cNvPr id="11" name="text-111">
            <a:extLst xmlns:a="http://schemas.openxmlformats.org/drawingml/2006/main">
              <a:ext uri="{FF2B5EF4-FFF2-40B4-BE49-F238E27FC236}">
                <a16:creationId xmlns:a16="http://schemas.microsoft.com/office/drawing/2014/main" id="{88986689-7E56-4973-8BCB-221D2B75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575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退还 80%服务价值；20%补偿全归服务方且不计佣</a:t>
            </a:r>
          </a:p>
        </p:txBody>
      </p:sp>
      <p:sp>
        <p:nvSpPr>
          <p:cNvPr id="12" name="line-112">
            <a:extLst xmlns:a="http://schemas.openxmlformats.org/drawingml/2006/main">
              <a:ext uri="{FF2B5EF4-FFF2-40B4-BE49-F238E27FC236}">
                <a16:creationId xmlns:a16="http://schemas.microsoft.com/office/drawing/2014/main" id="{7982B993-EA1B-4FB3-8E79-23ED3C44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13" name="text-113">
            <a:extLst xmlns:a="http://schemas.openxmlformats.org/drawingml/2006/main">
              <a:ext uri="{FF2B5EF4-FFF2-40B4-BE49-F238E27FC236}">
                <a16:creationId xmlns:a16="http://schemas.microsoft.com/office/drawing/2014/main" id="{03CE98B8-A86E-4888-97B8-15C3B6AF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服务方原因无法履约</a:t>
            </a:r>
          </a:p>
        </p:txBody>
      </p:sp>
      <p:sp>
        <p:nvSpPr>
          <p:cNvPr id="14" name="text-114">
            <a:extLst xmlns:a="http://schemas.openxmlformats.org/drawingml/2006/main">
              <a:ext uri="{FF2B5EF4-FFF2-40B4-BE49-F238E27FC236}">
                <a16:creationId xmlns:a16="http://schemas.microsoft.com/office/drawing/2014/main" id="{7E55156F-243F-469D-A6C8-9BAE2DCE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623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受影响服务项全退；摄影主服务失败则整单取消</a:t>
            </a:r>
          </a:p>
        </p:txBody>
      </p:sp>
      <p:sp>
        <p:nvSpPr>
          <p:cNvPr id="15" name="line-115">
            <a:extLst xmlns:a="http://schemas.openxmlformats.org/drawingml/2006/main">
              <a:ext uri="{FF2B5EF4-FFF2-40B4-BE49-F238E27FC236}">
                <a16:creationId xmlns:a16="http://schemas.microsoft.com/office/drawing/2014/main" id="{20CB0427-450E-4332-81B8-776D6EDB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16" name="text-116">
            <a:extLst xmlns:a="http://schemas.openxmlformats.org/drawingml/2006/main">
              <a:ext uri="{FF2B5EF4-FFF2-40B4-BE49-F238E27FC236}">
                <a16:creationId xmlns:a16="http://schemas.microsoft.com/office/drawing/2014/main" id="{FA2FA765-FF9F-4D63-99F2-A506AA86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同日拍摄向后延迟，商家不受影响</a:t>
            </a:r>
          </a:p>
        </p:txBody>
      </p:sp>
      <p:sp>
        <p:nvSpPr>
          <p:cNvPr id="17" name="text-117">
            <a:extLst xmlns:a="http://schemas.openxmlformats.org/drawingml/2006/main">
              <a:ext uri="{FF2B5EF4-FFF2-40B4-BE49-F238E27FC236}">
                <a16:creationId xmlns:a16="http://schemas.microsoft.com/office/drawing/2014/main" id="{346A4DC1-5D03-40D7-B138-B8E029BC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672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仅用户与摄影师确认，商家收到通知</a:t>
            </a:r>
          </a:p>
        </p:txBody>
      </p:sp>
      <p:sp>
        <p:nvSpPr>
          <p:cNvPr id="18" name="rect-118">
            <a:extLst xmlns:a="http://schemas.openxmlformats.org/drawingml/2006/main">
              <a:ext uri="{FF2B5EF4-FFF2-40B4-BE49-F238E27FC236}">
                <a16:creationId xmlns:a16="http://schemas.microsoft.com/office/drawing/2014/main" id="{3EC4B058-AB0E-4307-A60B-0F4A443D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11163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19">
            <a:extLst xmlns:a="http://schemas.openxmlformats.org/drawingml/2006/main">
              <a:ext uri="{FF2B5EF4-FFF2-40B4-BE49-F238E27FC236}">
                <a16:creationId xmlns:a16="http://schemas.microsoft.com/office/drawing/2014/main" id="{6BB14BF5-E0FE-4351-93FE-66E82E57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结算：每个服务项完成并经用户确认，或计划结束后 72 小时无异常，才进入可结算。</a:t>
            </a:r>
          </a:p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真实组合支付、部分退款与分别结算未通过支付 / 合规 / 财务验收前，不开放真实组合订单。</a:t>
            </a:r>
          </a:p>
        </p:txBody>
      </p:sp>
      <p:sp>
        <p:nvSpPr>
          <p:cNvPr id="20" name="slide-8-footer-label">
            <a:extLst xmlns:a="http://schemas.openxmlformats.org/drawingml/2006/main">
              <a:ext uri="{FF2B5EF4-FFF2-40B4-BE49-F238E27FC236}">
                <a16:creationId xmlns:a16="http://schemas.microsoft.com/office/drawing/2014/main" id="{427F5239-AAB2-4EDB-944B-D7153C21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Still 商家受控试点</a:t>
            </a:r>
          </a:p>
        </p:txBody>
      </p:sp>
      <p:sp>
        <p:nvSpPr>
          <p:cNvPr id="21" name="slide-8-footer-number">
            <a:extLst xmlns:a="http://schemas.openxmlformats.org/drawingml/2006/main">
              <a:ext uri="{FF2B5EF4-FFF2-40B4-BE49-F238E27FC236}">
                <a16:creationId xmlns:a16="http://schemas.microsoft.com/office/drawing/2014/main" id="{11DC967A-1F31-46C9-8BB5-3FA9A400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1244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9-kicker">
            <a:extLst xmlns:a="http://schemas.openxmlformats.org/drawingml/2006/main">
              <a:ext uri="{FF2B5EF4-FFF2-40B4-BE49-F238E27FC236}">
                <a16:creationId xmlns:a16="http://schemas.microsoft.com/office/drawing/2014/main" id="{E8242AD7-8C49-45E0-AC76-1AFE00C9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受控试点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29B05321-249F-4BFD-BD17-A0D89BB4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入驻只需四步，先模拟再开放</a:t>
            </a:r>
          </a:p>
        </p:txBody>
      </p:sp>
      <p:sp>
        <p:nvSpPr>
          <p:cNvPr id="3" name="line-120">
            <a:extLst xmlns:a="http://schemas.openxmlformats.org/drawingml/2006/main">
              <a:ext uri="{FF2B5EF4-FFF2-40B4-BE49-F238E27FC236}">
                <a16:creationId xmlns:a16="http://schemas.microsoft.com/office/drawing/2014/main" id="{F0D7E6B2-3003-4A46-86F0-51DF30A2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4" name="line-121">
            <a:extLst xmlns:a="http://schemas.openxmlformats.org/drawingml/2006/main">
              <a:ext uri="{FF2B5EF4-FFF2-40B4-BE49-F238E27FC236}">
                <a16:creationId xmlns:a16="http://schemas.microsoft.com/office/drawing/2014/main" id="{3C26A70E-DE86-41E7-AB72-6248F231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28900"/>
            <a:ext cx="874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214"/>
            </a:solidFill>
            <a:prstDash val="solid"/>
          </a:ln>
        </p:spPr>
      </p:sp>
      <p:sp>
        <p:nvSpPr>
          <p:cNvPr id="5" name="circle-122">
            <a:extLst xmlns:a="http://schemas.openxmlformats.org/drawingml/2006/main">
              <a:ext uri="{FF2B5EF4-FFF2-40B4-BE49-F238E27FC236}">
                <a16:creationId xmlns:a16="http://schemas.microsoft.com/office/drawing/2014/main" id="{73F61FF3-B49D-4CBB-848D-2A85849C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543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ircle-123">
            <a:extLst xmlns:a="http://schemas.openxmlformats.org/drawingml/2006/main">
              <a:ext uri="{FF2B5EF4-FFF2-40B4-BE49-F238E27FC236}">
                <a16:creationId xmlns:a16="http://schemas.microsoft.com/office/drawing/2014/main" id="{6825DBEA-2EE4-4066-9DB8-6DC0C8F7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43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ircle-124">
            <a:extLst xmlns:a="http://schemas.openxmlformats.org/drawingml/2006/main">
              <a:ext uri="{FF2B5EF4-FFF2-40B4-BE49-F238E27FC236}">
                <a16:creationId xmlns:a16="http://schemas.microsoft.com/office/drawing/2014/main" id="{0E53734D-81A3-41CE-B3E9-A6B275A3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43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ircle-125">
            <a:extLst xmlns:a="http://schemas.openxmlformats.org/drawingml/2006/main">
              <a:ext uri="{FF2B5EF4-FFF2-40B4-BE49-F238E27FC236}">
                <a16:creationId xmlns:a16="http://schemas.microsoft.com/office/drawing/2014/main" id="{F714688D-B532-4916-A6E9-A1AD025D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543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126">
            <a:extLst xmlns:a="http://schemas.openxmlformats.org/drawingml/2006/main">
              <a:ext uri="{FF2B5EF4-FFF2-40B4-BE49-F238E27FC236}">
                <a16:creationId xmlns:a16="http://schemas.microsoft.com/office/drawing/2014/main" id="{93F521ED-F73C-493E-8D7D-EC54A7A3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669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-127">
            <a:extLst xmlns:a="http://schemas.openxmlformats.org/drawingml/2006/main">
              <a:ext uri="{FF2B5EF4-FFF2-40B4-BE49-F238E27FC236}">
                <a16:creationId xmlns:a16="http://schemas.microsoft.com/office/drawing/2014/main" id="{B3A5799E-5E04-40FF-883D-A6C735E9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资料准入</a:t>
            </a:r>
          </a:p>
        </p:txBody>
      </p:sp>
      <p:sp>
        <p:nvSpPr>
          <p:cNvPr id="11" name="text-128">
            <a:extLst xmlns:a="http://schemas.openxmlformats.org/drawingml/2006/main">
              <a:ext uri="{FF2B5EF4-FFF2-40B4-BE49-F238E27FC236}">
                <a16:creationId xmlns:a16="http://schemas.microsoft.com/office/drawing/2014/main" id="{ED89A45D-5188-474D-859F-60BAE999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主体 / 地址 / 营业时间</a:t>
            </a:r>
          </a:p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公开营业电话与订单负责人</a:t>
            </a:r>
          </a:p>
        </p:txBody>
      </p:sp>
      <p:sp>
        <p:nvSpPr>
          <p:cNvPr id="12" name="text-129">
            <a:extLst xmlns:a="http://schemas.openxmlformats.org/drawingml/2006/main">
              <a:ext uri="{FF2B5EF4-FFF2-40B4-BE49-F238E27FC236}">
                <a16:creationId xmlns:a16="http://schemas.microsoft.com/office/drawing/2014/main" id="{3B7BF590-4EA4-43F2-BE04-D69D0780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669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130">
            <a:extLst xmlns:a="http://schemas.openxmlformats.org/drawingml/2006/main">
              <a:ext uri="{FF2B5EF4-FFF2-40B4-BE49-F238E27FC236}">
                <a16:creationId xmlns:a16="http://schemas.microsoft.com/office/drawing/2014/main" id="{4D71DD1A-515C-4B7E-9714-85AF4B9E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48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套餐整理</a:t>
            </a:r>
          </a:p>
        </p:txBody>
      </p:sp>
      <p:sp>
        <p:nvSpPr>
          <p:cNvPr id="14" name="text-131">
            <a:extLst xmlns:a="http://schemas.openxmlformats.org/drawingml/2006/main">
              <a:ext uri="{FF2B5EF4-FFF2-40B4-BE49-F238E27FC236}">
                <a16:creationId xmlns:a16="http://schemas.microsoft.com/office/drawing/2014/main" id="{8EA662D1-FD4C-4002-A85D-216AB492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38550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每店 1—3 个固定套餐</a:t>
            </a:r>
          </a:p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价格 / 时长 / 包含与不包含</a:t>
            </a:r>
          </a:p>
        </p:txBody>
      </p:sp>
      <p:sp>
        <p:nvSpPr>
          <p:cNvPr id="15" name="text-132">
            <a:extLst xmlns:a="http://schemas.openxmlformats.org/drawingml/2006/main">
              <a:ext uri="{FF2B5EF4-FFF2-40B4-BE49-F238E27FC236}">
                <a16:creationId xmlns:a16="http://schemas.microsoft.com/office/drawing/2014/main" id="{A5753DEC-F05B-44C0-9460-FC4E62EC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669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-133">
            <a:extLst xmlns:a="http://schemas.openxmlformats.org/drawingml/2006/main">
              <a:ext uri="{FF2B5EF4-FFF2-40B4-BE49-F238E27FC236}">
                <a16:creationId xmlns:a16="http://schemas.microsoft.com/office/drawing/2014/main" id="{5A01CAB9-6DBE-400E-833D-B6A0769A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关系确认</a:t>
            </a:r>
          </a:p>
        </p:txBody>
      </p:sp>
      <p:sp>
        <p:nvSpPr>
          <p:cNvPr id="17" name="text-134">
            <a:extLst xmlns:a="http://schemas.openxmlformats.org/drawingml/2006/main">
              <a:ext uri="{FF2B5EF4-FFF2-40B4-BE49-F238E27FC236}">
                <a16:creationId xmlns:a16="http://schemas.microsoft.com/office/drawing/2014/main" id="{19309A5D-A8E4-4C7C-B310-9E7F7BC2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确认真实合作摄影师</a:t>
            </a:r>
          </a:p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完成规则与角色培训</a:t>
            </a:r>
          </a:p>
        </p:txBody>
      </p:sp>
      <p:sp>
        <p:nvSpPr>
          <p:cNvPr id="18" name="text-135">
            <a:extLst xmlns:a="http://schemas.openxmlformats.org/drawingml/2006/main">
              <a:ext uri="{FF2B5EF4-FFF2-40B4-BE49-F238E27FC236}">
                <a16:creationId xmlns:a16="http://schemas.microsoft.com/office/drawing/2014/main" id="{F57B0057-6E09-4620-B37D-E779AA01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669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136">
            <a:extLst xmlns:a="http://schemas.openxmlformats.org/drawingml/2006/main">
              <a:ext uri="{FF2B5EF4-FFF2-40B4-BE49-F238E27FC236}">
                <a16:creationId xmlns:a16="http://schemas.microsoft.com/office/drawing/2014/main" id="{AB2F7B08-33D2-4C72-AEEE-B4FF860F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模拟订单</a:t>
            </a:r>
          </a:p>
        </p:txBody>
      </p:sp>
      <p:sp>
        <p:nvSpPr>
          <p:cNvPr id="20" name="text-137">
            <a:extLst xmlns:a="http://schemas.openxmlformats.org/drawingml/2006/main">
              <a:ext uri="{FF2B5EF4-FFF2-40B4-BE49-F238E27FC236}">
                <a16:creationId xmlns:a16="http://schemas.microsoft.com/office/drawing/2014/main" id="{1D958F51-3BF6-41ED-A979-654BFCD9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38550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跑通接单 / 电话 / 履约</a:t>
            </a:r>
          </a:p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异常 / 退款 / 结算检查</a:t>
            </a:r>
          </a:p>
        </p:txBody>
      </p:sp>
      <p:sp>
        <p:nvSpPr>
          <p:cNvPr id="21" name="rect-138">
            <a:extLst xmlns:a="http://schemas.openxmlformats.org/drawingml/2006/main">
              <a:ext uri="{FF2B5EF4-FFF2-40B4-BE49-F238E27FC236}">
                <a16:creationId xmlns:a16="http://schemas.microsoft.com/office/drawing/2014/main" id="{C4092FB9-5FF4-4E0B-8D16-A1ED539A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1163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139">
            <a:extLst xmlns:a="http://schemas.openxmlformats.org/drawingml/2006/main">
              <a:ext uri="{FF2B5EF4-FFF2-40B4-BE49-F238E27FC236}">
                <a16:creationId xmlns:a16="http://schemas.microsoft.com/office/drawing/2014/main" id="{F07522DE-1B95-46E3-804D-53FCFB4D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模拟通过只是必要条件，不单独构成真实订单放行。</a:t>
            </a:r>
          </a:p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支付、退款、结算、权限、合规、财务与跨角色验收全部通过后，才开放少量真实订单。</a:t>
            </a:r>
          </a:p>
        </p:txBody>
      </p:sp>
      <p:sp>
        <p:nvSpPr>
          <p:cNvPr id="23" name="slide-9-footer-label">
            <a:extLst xmlns:a="http://schemas.openxmlformats.org/drawingml/2006/main">
              <a:ext uri="{FF2B5EF4-FFF2-40B4-BE49-F238E27FC236}">
                <a16:creationId xmlns:a16="http://schemas.microsoft.com/office/drawing/2014/main" id="{18F70E82-7F29-4840-80E4-D1AD9BCB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Still 商家受控试点</a:t>
            </a:r>
          </a:p>
        </p:txBody>
      </p:sp>
      <p:sp>
        <p:nvSpPr>
          <p:cNvPr id="24" name="slide-9-footer-number">
            <a:extLst xmlns:a="http://schemas.openxmlformats.org/drawingml/2006/main">
              <a:ext uri="{FF2B5EF4-FFF2-40B4-BE49-F238E27FC236}">
                <a16:creationId xmlns:a16="http://schemas.microsoft.com/office/drawing/2014/main" id="{9C0E4986-058B-4014-98FA-C441B6CE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56772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40">
            <a:extLst xmlns:a="http://schemas.openxmlformats.org/drawingml/2006/main">
              <a:ext uri="{FF2B5EF4-FFF2-40B4-BE49-F238E27FC236}">
                <a16:creationId xmlns:a16="http://schemas.microsoft.com/office/drawing/2014/main" id="{97F74E2F-F1D1-494D-AF0E-05BD3414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3A16F5A1-2765-4F49-AB79-1D8827DD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先用 1—3 个套餐，</a:t>
            </a:r>
          </a:p>
          <a:p xmlns:a="http://schemas.openxmlformats.org/drawingml/2006/main">
            <a:pPr algn="l">
              <a:defRPr sz="4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跑通一笔模拟订单</a:t>
            </a:r>
          </a:p>
        </p:txBody>
      </p:sp>
      <p:sp>
        <p:nvSpPr>
          <p:cNvPr id="3" name="text-141">
            <a:extLst xmlns:a="http://schemas.openxmlformats.org/drawingml/2006/main">
              <a:ext uri="{FF2B5EF4-FFF2-40B4-BE49-F238E27FC236}">
                <a16:creationId xmlns:a16="http://schemas.microsoft.com/office/drawing/2014/main" id="{2012F380-1F3E-469D-A368-51E7CD49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准备套餐</a:t>
            </a:r>
          </a:p>
        </p:txBody>
      </p:sp>
      <p:sp>
        <p:nvSpPr>
          <p:cNvPr id="4" name="text-142">
            <a:extLst xmlns:a="http://schemas.openxmlformats.org/drawingml/2006/main">
              <a:ext uri="{FF2B5EF4-FFF2-40B4-BE49-F238E27FC236}">
                <a16:creationId xmlns:a16="http://schemas.microsoft.com/office/drawing/2014/main" id="{0ADE5332-88A8-4D1E-A6E3-3A795C6A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名称、价格、时长、人数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包含项与不包含项</a:t>
            </a:r>
          </a:p>
        </p:txBody>
      </p:sp>
      <p:sp>
        <p:nvSpPr>
          <p:cNvPr id="5" name="text-143">
            <a:extLst xmlns:a="http://schemas.openxmlformats.org/drawingml/2006/main">
              <a:ext uri="{FF2B5EF4-FFF2-40B4-BE49-F238E27FC236}">
                <a16:creationId xmlns:a16="http://schemas.microsoft.com/office/drawing/2014/main" id="{87386A35-F0B4-407A-A451-FE895CB6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29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准备门店信息</a:t>
            </a:r>
          </a:p>
        </p:txBody>
      </p:sp>
      <p:sp>
        <p:nvSpPr>
          <p:cNvPr id="6" name="text-144">
            <a:extLst xmlns:a="http://schemas.openxmlformats.org/drawingml/2006/main">
              <a:ext uri="{FF2B5EF4-FFF2-40B4-BE49-F238E27FC236}">
                <a16:creationId xmlns:a16="http://schemas.microsoft.com/office/drawing/2014/main" id="{499A36FC-35B1-4ADC-AE97-D240D9A8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434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营业时间、公开营业电话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指定一名订单负责人</a:t>
            </a:r>
          </a:p>
        </p:txBody>
      </p:sp>
      <p:sp>
        <p:nvSpPr>
          <p:cNvPr id="7" name="text-145">
            <a:extLst xmlns:a="http://schemas.openxmlformats.org/drawingml/2006/main">
              <a:ext uri="{FF2B5EF4-FFF2-40B4-BE49-F238E27FC236}">
                <a16:creationId xmlns:a16="http://schemas.microsoft.com/office/drawing/2014/main" id="{24FB17E6-CA68-4B4D-B1D4-426D8827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29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确认合作关系</a:t>
            </a:r>
          </a:p>
        </p:txBody>
      </p:sp>
      <p:sp>
        <p:nvSpPr>
          <p:cNvPr id="8" name="text-146">
            <a:extLst xmlns:a="http://schemas.openxmlformats.org/drawingml/2006/main">
              <a:ext uri="{FF2B5EF4-FFF2-40B4-BE49-F238E27FC236}">
                <a16:creationId xmlns:a16="http://schemas.microsoft.com/office/drawing/2014/main" id="{1A2D1FBC-DE3C-4371-88BF-615277A7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434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可搭配摄影师名单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双方确认真实合作关系</a:t>
            </a:r>
          </a:p>
        </p:txBody>
      </p:sp>
      <p:sp>
        <p:nvSpPr>
          <p:cNvPr id="9" name="line-147">
            <a:extLst xmlns:a="http://schemas.openxmlformats.org/drawingml/2006/main">
              <a:ext uri="{FF2B5EF4-FFF2-40B4-BE49-F238E27FC236}">
                <a16:creationId xmlns:a16="http://schemas.microsoft.com/office/drawing/2014/main" id="{6292C769-8B10-4D74-99AE-7206F05E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3DA"/>
            </a:solidFill>
            <a:prstDash val="solid"/>
          </a:ln>
        </p:spPr>
      </p:sp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4F17EEC2-46F0-4050-B36E-77BB65A4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214"/>
                </a:solidFill>
                <a:latin typeface="Microsoft YaHei"/>
                <a:ea typeface="Microsoft YaHei"/>
                <a:cs typeface="Microsoft YaHei"/>
              </a:rPr>
              <a:t>确认合作意向 → 提交资料 → 安排模拟订单</a:t>
            </a:r>
          </a:p>
        </p:txBody>
      </p:sp>
      <p:sp>
        <p:nvSpPr>
          <p:cNvPr id="11" name="text-149">
            <a:extLst xmlns:a="http://schemas.openxmlformats.org/drawingml/2006/main">
              <a:ext uri="{FF2B5EF4-FFF2-40B4-BE49-F238E27FC236}">
                <a16:creationId xmlns:a16="http://schemas.microsoft.com/office/drawing/2014/main" id="{BC30CE17-BC9C-4B6A-A926-010F4C7D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支付、合规、财务与跨角色测试全部通过后，才开放真实组合订单。</a:t>
            </a:r>
          </a:p>
        </p:txBody>
      </p:sp>
    </p:spTree>
    <p:extLst>
      <p:ext uri="{BB962C8B-B14F-4D97-AF65-F5344CB8AC3E}">
        <p14:creationId xmlns:p14="http://schemas.microsoft.com/office/powerpoint/2010/main" val="221125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2026-08-22T15:06:34.8380000Z</dcterms:created>
  <dcterms:modified xsi:type="dcterms:W3CDTF">2026-08-22T15:06:34.8380000Z</dcterms:modified>
</coreProperties>
</file>